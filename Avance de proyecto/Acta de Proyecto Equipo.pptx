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9" r:id="rId6"/>
    <p:sldId id="257" r:id="rId7"/>
    <p:sldId id="258" r:id="rId8"/>
    <p:sldId id="261" r:id="rId9"/>
    <p:sldId id="262" r:id="rId10"/>
    <p:sldId id="263" r:id="rId11"/>
    <p:sldId id="260" r:id="rId12"/>
    <p:sldId id="264" r:id="rId13"/>
    <p:sldId id="266" r:id="rId14"/>
    <p:sldId id="265" r:id="rId15"/>
  </p:sldIdLst>
  <p:sldSz cx="9144000" cy="6858000" type="screen4x3"/>
  <p:notesSz cx="6858000" cy="9144000"/>
  <p:defaultTextStyle>
    <a:defPPr>
      <a:defRPr lang="es-V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A435A3-4346-4C06-9091-2B1DFA84FACE}" v="232" dt="2025-09-19T02:03:20.8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1536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34AAFACB-58E2-CC67-CC9E-E3E6789A4E6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14313" y="857250"/>
            <a:ext cx="8715375" cy="214313"/>
          </a:xfrm>
          <a:prstGeom prst="rect">
            <a:avLst/>
          </a:prstGeom>
          <a:solidFill>
            <a:srgbClr val="4F81BD"/>
          </a:solidFill>
          <a:ln w="38100">
            <a:solidFill>
              <a:srgbClr val="F2F2F2"/>
            </a:solidFill>
            <a:miter lim="800000"/>
            <a:headEnd/>
            <a:tailEnd/>
          </a:ln>
          <a:effectLst>
            <a:outerShdw dist="28398" dir="3806097" algn="ctr" rotWithShape="0">
              <a:srgbClr val="243F60">
                <a:alpha val="50000"/>
              </a:srgbClr>
            </a:outerShdw>
          </a:effectLst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s-VE">
              <a:latin typeface="+mn-lt"/>
              <a:cs typeface="+mn-cs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5EEA92DD-08DA-B63C-D381-2FEF7C5BCDE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42875" y="549275"/>
            <a:ext cx="3571875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tabLst>
                <a:tab pos="2806700" algn="ctr"/>
                <a:tab pos="5611813" algn="r"/>
              </a:tabLst>
              <a:defRPr/>
            </a:pPr>
            <a:r>
              <a:rPr lang="es-VE" sz="1400" b="1">
                <a:solidFill>
                  <a:srgbClr val="0D0D0D"/>
                </a:solidFill>
                <a:ea typeface="Calibri" pitchFamily="34" charset="0"/>
                <a:cs typeface="Times New Roman" pitchFamily="18" charset="0"/>
              </a:rPr>
              <a:t>La Oficina de Proyectos de Informática</a:t>
            </a:r>
            <a:endParaRPr lang="es-VE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16A56CE-4182-229E-5083-3AF95A7EC7F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s-VE">
              <a:latin typeface="+mn-lt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7E10671-97C9-628E-E08E-178AF0F2085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572250" y="581025"/>
            <a:ext cx="24288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r">
              <a:tabLst>
                <a:tab pos="2806700" algn="ctr"/>
                <a:tab pos="5611813" algn="r"/>
              </a:tabLst>
              <a:defRPr/>
            </a:pPr>
            <a:r>
              <a:rPr lang="es-VE" sz="1200" b="1" i="1">
                <a:solidFill>
                  <a:srgbClr val="365F91"/>
                </a:solidFill>
                <a:ea typeface="Calibri" pitchFamily="34" charset="0"/>
                <a:cs typeface="Times New Roman" pitchFamily="18" charset="0"/>
              </a:rPr>
              <a:t>www.pmoinformatica.com</a:t>
            </a:r>
            <a:endParaRPr lang="es-VE"/>
          </a:p>
        </p:txBody>
      </p:sp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VE"/>
          </a:p>
        </p:txBody>
      </p:sp>
      <p:sp>
        <p:nvSpPr>
          <p:cNvPr id="8" name="3 Marcador de fecha">
            <a:extLst>
              <a:ext uri="{FF2B5EF4-FFF2-40B4-BE49-F238E27FC236}">
                <a16:creationId xmlns:a16="http://schemas.microsoft.com/office/drawing/2014/main" id="{47F7B235-3545-2858-BBD3-3016343F2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410C8-C2A8-4B5B-92A0-C52B73236FCE}" type="datetimeFigureOut">
              <a:rPr lang="es-VE"/>
              <a:pPr>
                <a:defRPr/>
              </a:pPr>
              <a:t>27/11/2025</a:t>
            </a:fld>
            <a:endParaRPr lang="es-VE"/>
          </a:p>
        </p:txBody>
      </p:sp>
      <p:sp>
        <p:nvSpPr>
          <p:cNvPr id="9" name="4 Marcador de pie de página">
            <a:extLst>
              <a:ext uri="{FF2B5EF4-FFF2-40B4-BE49-F238E27FC236}">
                <a16:creationId xmlns:a16="http://schemas.microsoft.com/office/drawing/2014/main" id="{E6485953-115F-CA9E-114D-5A860D32C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VE"/>
          </a:p>
        </p:txBody>
      </p:sp>
      <p:sp>
        <p:nvSpPr>
          <p:cNvPr id="10" name="5 Marcador de número de diapositiva">
            <a:extLst>
              <a:ext uri="{FF2B5EF4-FFF2-40B4-BE49-F238E27FC236}">
                <a16:creationId xmlns:a16="http://schemas.microsoft.com/office/drawing/2014/main" id="{A240D64E-2F97-891C-79B8-C7948059F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F3015C3-1B6E-42CF-91A7-3007F08E688B}" type="slidenum">
              <a:rPr lang="es-VE" altLang="en-US"/>
              <a:pPr/>
              <a:t>‹Nº›</a:t>
            </a:fld>
            <a:endParaRPr lang="es-VE" altLang="en-US"/>
          </a:p>
        </p:txBody>
      </p:sp>
    </p:spTree>
    <p:extLst>
      <p:ext uri="{BB962C8B-B14F-4D97-AF65-F5344CB8AC3E}">
        <p14:creationId xmlns:p14="http://schemas.microsoft.com/office/powerpoint/2010/main" val="18611658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261DEFCA-830A-D9EA-E1E6-D192207F6E8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14313" y="857250"/>
            <a:ext cx="8715375" cy="214313"/>
          </a:xfrm>
          <a:prstGeom prst="rect">
            <a:avLst/>
          </a:prstGeom>
          <a:solidFill>
            <a:srgbClr val="4F81BD"/>
          </a:solidFill>
          <a:ln w="38100">
            <a:solidFill>
              <a:srgbClr val="F2F2F2"/>
            </a:solidFill>
            <a:miter lim="800000"/>
            <a:headEnd/>
            <a:tailEnd/>
          </a:ln>
          <a:effectLst>
            <a:outerShdw dist="28398" dir="3806097" algn="ctr" rotWithShape="0">
              <a:srgbClr val="243F60">
                <a:alpha val="50000"/>
              </a:srgbClr>
            </a:outerShdw>
          </a:effectLst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s-VE">
              <a:latin typeface="+mn-lt"/>
              <a:cs typeface="+mn-cs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13434D6A-8540-2351-B59A-AF837A2BDCA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42875" y="549275"/>
            <a:ext cx="3571875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tabLst>
                <a:tab pos="2806700" algn="ctr"/>
                <a:tab pos="5611813" algn="r"/>
              </a:tabLst>
              <a:defRPr/>
            </a:pPr>
            <a:r>
              <a:rPr lang="es-VE" sz="1400" b="1">
                <a:solidFill>
                  <a:srgbClr val="0D0D0D"/>
                </a:solidFill>
                <a:ea typeface="Calibri" pitchFamily="34" charset="0"/>
                <a:cs typeface="Times New Roman" pitchFamily="18" charset="0"/>
              </a:rPr>
              <a:t>La Oficina de Proyectos de Informática</a:t>
            </a:r>
            <a:endParaRPr lang="es-VE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434B1D3-32A6-8BCC-970D-E3573021C17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572250" y="581025"/>
            <a:ext cx="24288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r">
              <a:tabLst>
                <a:tab pos="2806700" algn="ctr"/>
                <a:tab pos="5611813" algn="r"/>
              </a:tabLst>
              <a:defRPr/>
            </a:pPr>
            <a:r>
              <a:rPr lang="es-VE" sz="1200" b="1" i="1">
                <a:solidFill>
                  <a:srgbClr val="365F91"/>
                </a:solidFill>
                <a:ea typeface="Calibri" pitchFamily="34" charset="0"/>
                <a:cs typeface="Times New Roman" pitchFamily="18" charset="0"/>
              </a:rPr>
              <a:t>www.pmoinformatica.com</a:t>
            </a:r>
            <a:endParaRPr lang="es-VE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7" name="3 Marcador de fecha">
            <a:extLst>
              <a:ext uri="{FF2B5EF4-FFF2-40B4-BE49-F238E27FC236}">
                <a16:creationId xmlns:a16="http://schemas.microsoft.com/office/drawing/2014/main" id="{94362D65-3AAB-B7DF-E121-5D8F3B6D0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D3644B-ABAE-444E-B6E0-38EEB4387DB8}" type="datetimeFigureOut">
              <a:rPr lang="es-VE"/>
              <a:pPr>
                <a:defRPr/>
              </a:pPr>
              <a:t>27/11/2025</a:t>
            </a:fld>
            <a:endParaRPr lang="es-VE"/>
          </a:p>
        </p:txBody>
      </p:sp>
      <p:sp>
        <p:nvSpPr>
          <p:cNvPr id="8" name="4 Marcador de pie de página">
            <a:extLst>
              <a:ext uri="{FF2B5EF4-FFF2-40B4-BE49-F238E27FC236}">
                <a16:creationId xmlns:a16="http://schemas.microsoft.com/office/drawing/2014/main" id="{C415DE66-4EA3-5009-D3A9-03CC3E2FB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VE"/>
          </a:p>
        </p:txBody>
      </p:sp>
      <p:sp>
        <p:nvSpPr>
          <p:cNvPr id="9" name="5 Marcador de número de diapositiva">
            <a:extLst>
              <a:ext uri="{FF2B5EF4-FFF2-40B4-BE49-F238E27FC236}">
                <a16:creationId xmlns:a16="http://schemas.microsoft.com/office/drawing/2014/main" id="{BBE663B3-1B0E-0FB8-EA16-8A51E824E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EA62F3-AFB7-4339-9692-908D6773B8B7}" type="slidenum">
              <a:rPr lang="es-VE" altLang="en-US"/>
              <a:pPr/>
              <a:t>‹Nº›</a:t>
            </a:fld>
            <a:endParaRPr lang="es-VE" altLang="en-US"/>
          </a:p>
        </p:txBody>
      </p:sp>
    </p:spTree>
    <p:extLst>
      <p:ext uri="{BB962C8B-B14F-4D97-AF65-F5344CB8AC3E}">
        <p14:creationId xmlns:p14="http://schemas.microsoft.com/office/powerpoint/2010/main" val="16784918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>
            <a:extLst>
              <a:ext uri="{FF2B5EF4-FFF2-40B4-BE49-F238E27FC236}">
                <a16:creationId xmlns:a16="http://schemas.microsoft.com/office/drawing/2014/main" id="{ABE34EE7-BDC8-AB3B-3A47-5B9B19F20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7BDA6B-7392-490D-A9F0-F765CEA7061C}" type="datetimeFigureOut">
              <a:rPr lang="es-VE"/>
              <a:pPr>
                <a:defRPr/>
              </a:pPr>
              <a:t>27/11/2025</a:t>
            </a:fld>
            <a:endParaRPr lang="es-VE"/>
          </a:p>
        </p:txBody>
      </p:sp>
      <p:sp>
        <p:nvSpPr>
          <p:cNvPr id="5" name="4 Marcador de pie de página">
            <a:extLst>
              <a:ext uri="{FF2B5EF4-FFF2-40B4-BE49-F238E27FC236}">
                <a16:creationId xmlns:a16="http://schemas.microsoft.com/office/drawing/2014/main" id="{747476C9-1D2C-F2F0-F003-F9B4E505D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VE"/>
          </a:p>
        </p:txBody>
      </p:sp>
      <p:sp>
        <p:nvSpPr>
          <p:cNvPr id="6" name="5 Marcador de número de diapositiva">
            <a:extLst>
              <a:ext uri="{FF2B5EF4-FFF2-40B4-BE49-F238E27FC236}">
                <a16:creationId xmlns:a16="http://schemas.microsoft.com/office/drawing/2014/main" id="{9DCB0FD1-27AE-6E2D-1A23-4782F7606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84D886-CEA1-40B5-9B9E-CD2AC32A1F37}" type="slidenum">
              <a:rPr lang="es-VE" altLang="en-US"/>
              <a:pPr/>
              <a:t>‹Nº›</a:t>
            </a:fld>
            <a:endParaRPr lang="es-VE" altLang="en-US"/>
          </a:p>
        </p:txBody>
      </p:sp>
    </p:spTree>
    <p:extLst>
      <p:ext uri="{BB962C8B-B14F-4D97-AF65-F5344CB8AC3E}">
        <p14:creationId xmlns:p14="http://schemas.microsoft.com/office/powerpoint/2010/main" val="2612178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9F81A16C-FE5C-EEB5-81FE-7E2386FAB0E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14313" y="857250"/>
            <a:ext cx="8715375" cy="214313"/>
          </a:xfrm>
          <a:prstGeom prst="rect">
            <a:avLst/>
          </a:prstGeom>
          <a:solidFill>
            <a:srgbClr val="4F81BD"/>
          </a:solidFill>
          <a:ln w="38100">
            <a:solidFill>
              <a:srgbClr val="F2F2F2"/>
            </a:solidFill>
            <a:miter lim="800000"/>
            <a:headEnd/>
            <a:tailEnd/>
          </a:ln>
          <a:effectLst>
            <a:outerShdw dist="28398" dir="3806097" algn="ctr" rotWithShape="0">
              <a:srgbClr val="243F60">
                <a:alpha val="50000"/>
              </a:srgbClr>
            </a:outerShdw>
          </a:effectLst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s-VE">
              <a:latin typeface="+mn-lt"/>
              <a:cs typeface="+mn-cs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844E7DA1-5639-CD7A-AFC1-A5204AAF1B9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42875" y="549275"/>
            <a:ext cx="3571875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tabLst>
                <a:tab pos="2806700" algn="ctr"/>
                <a:tab pos="5611813" algn="r"/>
              </a:tabLst>
              <a:defRPr/>
            </a:pPr>
            <a:r>
              <a:rPr lang="es-VE" sz="1400" b="1">
                <a:solidFill>
                  <a:srgbClr val="0D0D0D"/>
                </a:solidFill>
                <a:ea typeface="Calibri" pitchFamily="34" charset="0"/>
                <a:cs typeface="Times New Roman" pitchFamily="18" charset="0"/>
              </a:rPr>
              <a:t>La Oficina de Proyectos de Informática</a:t>
            </a:r>
            <a:endParaRPr lang="es-V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DC90625-3842-E3EB-7F02-2A9FE74C7D2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572250" y="581025"/>
            <a:ext cx="24288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r">
              <a:tabLst>
                <a:tab pos="2806700" algn="ctr"/>
                <a:tab pos="5611813" algn="r"/>
              </a:tabLst>
              <a:defRPr/>
            </a:pPr>
            <a:r>
              <a:rPr lang="es-VE" sz="1200" b="1" i="1">
                <a:solidFill>
                  <a:srgbClr val="365F91"/>
                </a:solidFill>
                <a:ea typeface="Calibri" pitchFamily="34" charset="0"/>
                <a:cs typeface="Times New Roman" pitchFamily="18" charset="0"/>
              </a:rPr>
              <a:t>www.pmoinformatica.com</a:t>
            </a:r>
            <a:endParaRPr lang="es-VE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8" name="4 Marcador de fecha">
            <a:extLst>
              <a:ext uri="{FF2B5EF4-FFF2-40B4-BE49-F238E27FC236}">
                <a16:creationId xmlns:a16="http://schemas.microsoft.com/office/drawing/2014/main" id="{95BFEEDB-ADA9-B5C4-E108-31518A27D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BB00C7-D83B-4944-A87B-1E58C696E9BE}" type="datetimeFigureOut">
              <a:rPr lang="es-VE"/>
              <a:pPr>
                <a:defRPr/>
              </a:pPr>
              <a:t>27/11/2025</a:t>
            </a:fld>
            <a:endParaRPr lang="es-VE"/>
          </a:p>
        </p:txBody>
      </p:sp>
      <p:sp>
        <p:nvSpPr>
          <p:cNvPr id="9" name="5 Marcador de pie de página">
            <a:extLst>
              <a:ext uri="{FF2B5EF4-FFF2-40B4-BE49-F238E27FC236}">
                <a16:creationId xmlns:a16="http://schemas.microsoft.com/office/drawing/2014/main" id="{5D688F18-E061-A925-F632-7B898B321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VE"/>
          </a:p>
        </p:txBody>
      </p:sp>
      <p:sp>
        <p:nvSpPr>
          <p:cNvPr id="10" name="6 Marcador de número de diapositiva">
            <a:extLst>
              <a:ext uri="{FF2B5EF4-FFF2-40B4-BE49-F238E27FC236}">
                <a16:creationId xmlns:a16="http://schemas.microsoft.com/office/drawing/2014/main" id="{E06355B8-1BFE-8BBD-2A6D-99EA8BEA4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A71D5A2-D0BD-40C2-81F0-3320AFF257D3}" type="slidenum">
              <a:rPr lang="es-VE" altLang="en-US"/>
              <a:pPr/>
              <a:t>‹Nº›</a:t>
            </a:fld>
            <a:endParaRPr lang="es-VE" altLang="en-US"/>
          </a:p>
        </p:txBody>
      </p:sp>
    </p:spTree>
    <p:extLst>
      <p:ext uri="{BB962C8B-B14F-4D97-AF65-F5344CB8AC3E}">
        <p14:creationId xmlns:p14="http://schemas.microsoft.com/office/powerpoint/2010/main" val="30191567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2066E0DC-E09A-8EE7-F35A-C91BFEAB5F7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14313" y="857250"/>
            <a:ext cx="8715375" cy="214313"/>
          </a:xfrm>
          <a:prstGeom prst="rect">
            <a:avLst/>
          </a:prstGeom>
          <a:solidFill>
            <a:srgbClr val="4F81BD"/>
          </a:solidFill>
          <a:ln w="38100">
            <a:solidFill>
              <a:srgbClr val="F2F2F2"/>
            </a:solidFill>
            <a:miter lim="800000"/>
            <a:headEnd/>
            <a:tailEnd/>
          </a:ln>
          <a:effectLst>
            <a:outerShdw dist="28398" dir="3806097" algn="ctr" rotWithShape="0">
              <a:srgbClr val="243F60">
                <a:alpha val="50000"/>
              </a:srgbClr>
            </a:outerShdw>
          </a:effectLst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s-VE">
              <a:latin typeface="+mn-lt"/>
              <a:cs typeface="+mn-cs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E16D18E8-DBCD-C85C-DA88-C5A7D716846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42875" y="549275"/>
            <a:ext cx="3571875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tabLst>
                <a:tab pos="2806700" algn="ctr"/>
                <a:tab pos="5611813" algn="r"/>
              </a:tabLst>
              <a:defRPr/>
            </a:pPr>
            <a:r>
              <a:rPr lang="es-VE" sz="1400" b="1">
                <a:solidFill>
                  <a:srgbClr val="0D0D0D"/>
                </a:solidFill>
                <a:ea typeface="Calibri" pitchFamily="34" charset="0"/>
                <a:cs typeface="Times New Roman" pitchFamily="18" charset="0"/>
              </a:rPr>
              <a:t>La Oficina de Proyectos de Informática</a:t>
            </a:r>
            <a:endParaRPr lang="es-VE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176FD453-C7DD-85C3-66E2-385511BEF41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572250" y="581025"/>
            <a:ext cx="24288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r">
              <a:tabLst>
                <a:tab pos="2806700" algn="ctr"/>
                <a:tab pos="5611813" algn="r"/>
              </a:tabLst>
              <a:defRPr/>
            </a:pPr>
            <a:r>
              <a:rPr lang="es-VE" sz="1200" b="1" i="1">
                <a:solidFill>
                  <a:srgbClr val="365F91"/>
                </a:solidFill>
                <a:ea typeface="Calibri" pitchFamily="34" charset="0"/>
                <a:cs typeface="Times New Roman" pitchFamily="18" charset="0"/>
              </a:rPr>
              <a:t>www.pmoinformatica.com</a:t>
            </a:r>
            <a:endParaRPr lang="es-VE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10" name="6 Marcador de fecha">
            <a:extLst>
              <a:ext uri="{FF2B5EF4-FFF2-40B4-BE49-F238E27FC236}">
                <a16:creationId xmlns:a16="http://schemas.microsoft.com/office/drawing/2014/main" id="{57FA9B6E-D92B-3BE1-3921-67CA2F415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06AA71-743D-4E45-8A32-EDF68776035B}" type="datetimeFigureOut">
              <a:rPr lang="es-VE"/>
              <a:pPr>
                <a:defRPr/>
              </a:pPr>
              <a:t>27/11/2025</a:t>
            </a:fld>
            <a:endParaRPr lang="es-VE"/>
          </a:p>
        </p:txBody>
      </p:sp>
      <p:sp>
        <p:nvSpPr>
          <p:cNvPr id="11" name="7 Marcador de pie de página">
            <a:extLst>
              <a:ext uri="{FF2B5EF4-FFF2-40B4-BE49-F238E27FC236}">
                <a16:creationId xmlns:a16="http://schemas.microsoft.com/office/drawing/2014/main" id="{DD300951-6CBA-EE65-F2A3-278795E13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VE"/>
          </a:p>
        </p:txBody>
      </p:sp>
      <p:sp>
        <p:nvSpPr>
          <p:cNvPr id="12" name="8 Marcador de número de diapositiva">
            <a:extLst>
              <a:ext uri="{FF2B5EF4-FFF2-40B4-BE49-F238E27FC236}">
                <a16:creationId xmlns:a16="http://schemas.microsoft.com/office/drawing/2014/main" id="{32C088C9-F468-F864-3DF1-322E046BB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E5224EF-4372-472B-8EDA-92F13270721E}" type="slidenum">
              <a:rPr lang="es-VE" altLang="en-US"/>
              <a:pPr/>
              <a:t>‹Nº›</a:t>
            </a:fld>
            <a:endParaRPr lang="es-VE" altLang="en-US"/>
          </a:p>
        </p:txBody>
      </p:sp>
    </p:spTree>
    <p:extLst>
      <p:ext uri="{BB962C8B-B14F-4D97-AF65-F5344CB8AC3E}">
        <p14:creationId xmlns:p14="http://schemas.microsoft.com/office/powerpoint/2010/main" val="4668771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3 Marcador de fecha">
            <a:extLst>
              <a:ext uri="{FF2B5EF4-FFF2-40B4-BE49-F238E27FC236}">
                <a16:creationId xmlns:a16="http://schemas.microsoft.com/office/drawing/2014/main" id="{87780EED-1B95-7861-35E9-2CE47ABDB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B39A6-1ECE-462E-9DD2-CC8DDE3B5CEA}" type="datetimeFigureOut">
              <a:rPr lang="es-VE"/>
              <a:pPr>
                <a:defRPr/>
              </a:pPr>
              <a:t>27/11/2025</a:t>
            </a:fld>
            <a:endParaRPr lang="es-VE"/>
          </a:p>
        </p:txBody>
      </p:sp>
      <p:sp>
        <p:nvSpPr>
          <p:cNvPr id="4" name="4 Marcador de pie de página">
            <a:extLst>
              <a:ext uri="{FF2B5EF4-FFF2-40B4-BE49-F238E27FC236}">
                <a16:creationId xmlns:a16="http://schemas.microsoft.com/office/drawing/2014/main" id="{C1F9C9D3-5643-9732-569A-555753DC0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VE"/>
          </a:p>
        </p:txBody>
      </p:sp>
      <p:sp>
        <p:nvSpPr>
          <p:cNvPr id="5" name="5 Marcador de número de diapositiva">
            <a:extLst>
              <a:ext uri="{FF2B5EF4-FFF2-40B4-BE49-F238E27FC236}">
                <a16:creationId xmlns:a16="http://schemas.microsoft.com/office/drawing/2014/main" id="{53D3C4C8-AF9C-DDD3-A8AA-4ADA596C4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65C62BC-34C5-4B75-A515-F5ACFD39D9C2}" type="slidenum">
              <a:rPr lang="es-VE" altLang="en-US"/>
              <a:pPr/>
              <a:t>‹Nº›</a:t>
            </a:fld>
            <a:endParaRPr lang="es-VE" altLang="en-US"/>
          </a:p>
        </p:txBody>
      </p:sp>
    </p:spTree>
    <p:extLst>
      <p:ext uri="{BB962C8B-B14F-4D97-AF65-F5344CB8AC3E}">
        <p14:creationId xmlns:p14="http://schemas.microsoft.com/office/powerpoint/2010/main" val="34907778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3 Marcador de fecha">
            <a:extLst>
              <a:ext uri="{FF2B5EF4-FFF2-40B4-BE49-F238E27FC236}">
                <a16:creationId xmlns:a16="http://schemas.microsoft.com/office/drawing/2014/main" id="{13735841-883E-5E30-181C-5704B8707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872B9B-B5D8-4648-837B-2BD9C111BEF2}" type="datetimeFigureOut">
              <a:rPr lang="es-VE"/>
              <a:pPr>
                <a:defRPr/>
              </a:pPr>
              <a:t>27/11/2025</a:t>
            </a:fld>
            <a:endParaRPr lang="es-VE"/>
          </a:p>
        </p:txBody>
      </p:sp>
      <p:sp>
        <p:nvSpPr>
          <p:cNvPr id="3" name="4 Marcador de pie de página">
            <a:extLst>
              <a:ext uri="{FF2B5EF4-FFF2-40B4-BE49-F238E27FC236}">
                <a16:creationId xmlns:a16="http://schemas.microsoft.com/office/drawing/2014/main" id="{570C1760-A216-DC8C-72C4-C7EAD4602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VE"/>
          </a:p>
        </p:txBody>
      </p:sp>
      <p:sp>
        <p:nvSpPr>
          <p:cNvPr id="4" name="5 Marcador de número de diapositiva">
            <a:extLst>
              <a:ext uri="{FF2B5EF4-FFF2-40B4-BE49-F238E27FC236}">
                <a16:creationId xmlns:a16="http://schemas.microsoft.com/office/drawing/2014/main" id="{6008D11B-4028-38D4-778A-21718FDBB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12D32D2-9A17-4CB5-B42F-E2A80541E304}" type="slidenum">
              <a:rPr lang="es-VE" altLang="en-US"/>
              <a:pPr/>
              <a:t>‹Nº›</a:t>
            </a:fld>
            <a:endParaRPr lang="es-VE" altLang="en-US"/>
          </a:p>
        </p:txBody>
      </p:sp>
    </p:spTree>
    <p:extLst>
      <p:ext uri="{BB962C8B-B14F-4D97-AF65-F5344CB8AC3E}">
        <p14:creationId xmlns:p14="http://schemas.microsoft.com/office/powerpoint/2010/main" val="38722991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3 Marcador de fecha">
            <a:extLst>
              <a:ext uri="{FF2B5EF4-FFF2-40B4-BE49-F238E27FC236}">
                <a16:creationId xmlns:a16="http://schemas.microsoft.com/office/drawing/2014/main" id="{B4BB557B-81BC-657A-B9A0-BDC14FE4F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B40070-DD66-4585-94E8-B9FF41D5A076}" type="datetimeFigureOut">
              <a:rPr lang="es-VE"/>
              <a:pPr>
                <a:defRPr/>
              </a:pPr>
              <a:t>27/11/2025</a:t>
            </a:fld>
            <a:endParaRPr lang="es-VE"/>
          </a:p>
        </p:txBody>
      </p:sp>
      <p:sp>
        <p:nvSpPr>
          <p:cNvPr id="6" name="4 Marcador de pie de página">
            <a:extLst>
              <a:ext uri="{FF2B5EF4-FFF2-40B4-BE49-F238E27FC236}">
                <a16:creationId xmlns:a16="http://schemas.microsoft.com/office/drawing/2014/main" id="{652E4C5E-3D29-DACA-3CA4-32761B023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VE"/>
          </a:p>
        </p:txBody>
      </p:sp>
      <p:sp>
        <p:nvSpPr>
          <p:cNvPr id="7" name="5 Marcador de número de diapositiva">
            <a:extLst>
              <a:ext uri="{FF2B5EF4-FFF2-40B4-BE49-F238E27FC236}">
                <a16:creationId xmlns:a16="http://schemas.microsoft.com/office/drawing/2014/main" id="{F2E397F4-E63D-21D3-6ED2-26A3A6055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12539CE-E470-4FDE-B50A-2F771A5B0AB2}" type="slidenum">
              <a:rPr lang="es-VE" altLang="en-US"/>
              <a:pPr/>
              <a:t>‹Nº›</a:t>
            </a:fld>
            <a:endParaRPr lang="es-VE" altLang="en-US"/>
          </a:p>
        </p:txBody>
      </p:sp>
    </p:spTree>
    <p:extLst>
      <p:ext uri="{BB962C8B-B14F-4D97-AF65-F5344CB8AC3E}">
        <p14:creationId xmlns:p14="http://schemas.microsoft.com/office/powerpoint/2010/main" val="9701828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VE" noProof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3 Marcador de fecha">
            <a:extLst>
              <a:ext uri="{FF2B5EF4-FFF2-40B4-BE49-F238E27FC236}">
                <a16:creationId xmlns:a16="http://schemas.microsoft.com/office/drawing/2014/main" id="{B6769850-848F-9AD5-9093-BFB296289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6EE334-73B8-4108-900D-90D0C1EA44DB}" type="datetimeFigureOut">
              <a:rPr lang="es-VE"/>
              <a:pPr>
                <a:defRPr/>
              </a:pPr>
              <a:t>27/11/2025</a:t>
            </a:fld>
            <a:endParaRPr lang="es-VE"/>
          </a:p>
        </p:txBody>
      </p:sp>
      <p:sp>
        <p:nvSpPr>
          <p:cNvPr id="6" name="4 Marcador de pie de página">
            <a:extLst>
              <a:ext uri="{FF2B5EF4-FFF2-40B4-BE49-F238E27FC236}">
                <a16:creationId xmlns:a16="http://schemas.microsoft.com/office/drawing/2014/main" id="{61359144-45DA-77B3-7AC1-8B7065585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VE"/>
          </a:p>
        </p:txBody>
      </p:sp>
      <p:sp>
        <p:nvSpPr>
          <p:cNvPr id="7" name="5 Marcador de número de diapositiva">
            <a:extLst>
              <a:ext uri="{FF2B5EF4-FFF2-40B4-BE49-F238E27FC236}">
                <a16:creationId xmlns:a16="http://schemas.microsoft.com/office/drawing/2014/main" id="{F6211110-8BD4-7311-A543-9F736FB01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3F144AC-9F15-45D4-BCAF-DC6D301FC4A3}" type="slidenum">
              <a:rPr lang="es-VE" altLang="en-US"/>
              <a:pPr/>
              <a:t>‹Nº›</a:t>
            </a:fld>
            <a:endParaRPr lang="es-VE" altLang="en-US"/>
          </a:p>
        </p:txBody>
      </p:sp>
    </p:spTree>
    <p:extLst>
      <p:ext uri="{BB962C8B-B14F-4D97-AF65-F5344CB8AC3E}">
        <p14:creationId xmlns:p14="http://schemas.microsoft.com/office/powerpoint/2010/main" val="1858796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4" name="3 Marcador de fecha">
            <a:extLst>
              <a:ext uri="{FF2B5EF4-FFF2-40B4-BE49-F238E27FC236}">
                <a16:creationId xmlns:a16="http://schemas.microsoft.com/office/drawing/2014/main" id="{79593646-F142-0C98-743B-FCDC54F1D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25776E-2CFD-48A1-A803-C521A07A3A7E}" type="datetimeFigureOut">
              <a:rPr lang="es-VE"/>
              <a:pPr>
                <a:defRPr/>
              </a:pPr>
              <a:t>27/11/2025</a:t>
            </a:fld>
            <a:endParaRPr lang="es-VE"/>
          </a:p>
        </p:txBody>
      </p:sp>
      <p:sp>
        <p:nvSpPr>
          <p:cNvPr id="5" name="4 Marcador de pie de página">
            <a:extLst>
              <a:ext uri="{FF2B5EF4-FFF2-40B4-BE49-F238E27FC236}">
                <a16:creationId xmlns:a16="http://schemas.microsoft.com/office/drawing/2014/main" id="{B23A14CA-0056-B344-D0A3-D81FE99EF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VE"/>
          </a:p>
        </p:txBody>
      </p:sp>
      <p:sp>
        <p:nvSpPr>
          <p:cNvPr id="6" name="5 Marcador de número de diapositiva">
            <a:extLst>
              <a:ext uri="{FF2B5EF4-FFF2-40B4-BE49-F238E27FC236}">
                <a16:creationId xmlns:a16="http://schemas.microsoft.com/office/drawing/2014/main" id="{A1165FA5-A592-7671-E913-8F0451F4D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6105D52-8E6D-4439-8D92-9557FE5088EC}" type="slidenum">
              <a:rPr lang="es-VE" altLang="en-US"/>
              <a:pPr/>
              <a:t>‹Nº›</a:t>
            </a:fld>
            <a:endParaRPr lang="es-VE" altLang="en-US"/>
          </a:p>
        </p:txBody>
      </p:sp>
    </p:spTree>
    <p:extLst>
      <p:ext uri="{BB962C8B-B14F-4D97-AF65-F5344CB8AC3E}">
        <p14:creationId xmlns:p14="http://schemas.microsoft.com/office/powerpoint/2010/main" val="33172838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4" name="3 Marcador de fecha">
            <a:extLst>
              <a:ext uri="{FF2B5EF4-FFF2-40B4-BE49-F238E27FC236}">
                <a16:creationId xmlns:a16="http://schemas.microsoft.com/office/drawing/2014/main" id="{AB1549E3-A9EF-C888-8D4D-B2602E3E2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727CD0-EE9D-4C93-8FD3-53780A6C156B}" type="datetimeFigureOut">
              <a:rPr lang="es-VE"/>
              <a:pPr>
                <a:defRPr/>
              </a:pPr>
              <a:t>27/11/2025</a:t>
            </a:fld>
            <a:endParaRPr lang="es-VE"/>
          </a:p>
        </p:txBody>
      </p:sp>
      <p:sp>
        <p:nvSpPr>
          <p:cNvPr id="5" name="4 Marcador de pie de página">
            <a:extLst>
              <a:ext uri="{FF2B5EF4-FFF2-40B4-BE49-F238E27FC236}">
                <a16:creationId xmlns:a16="http://schemas.microsoft.com/office/drawing/2014/main" id="{281E3BCE-14E3-6DB0-4295-0D0EC7727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VE"/>
          </a:p>
        </p:txBody>
      </p:sp>
      <p:sp>
        <p:nvSpPr>
          <p:cNvPr id="6" name="5 Marcador de número de diapositiva">
            <a:extLst>
              <a:ext uri="{FF2B5EF4-FFF2-40B4-BE49-F238E27FC236}">
                <a16:creationId xmlns:a16="http://schemas.microsoft.com/office/drawing/2014/main" id="{028C4662-211D-E9EC-C23E-B12A1380D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02C6E79-5CE2-4E05-BF94-D124EDCFCEFF}" type="slidenum">
              <a:rPr lang="es-VE" altLang="en-US"/>
              <a:pPr/>
              <a:t>‹Nº›</a:t>
            </a:fld>
            <a:endParaRPr lang="es-VE" altLang="en-US"/>
          </a:p>
        </p:txBody>
      </p:sp>
    </p:spTree>
    <p:extLst>
      <p:ext uri="{BB962C8B-B14F-4D97-AF65-F5344CB8AC3E}">
        <p14:creationId xmlns:p14="http://schemas.microsoft.com/office/powerpoint/2010/main" val="29321651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1 Marcador de título">
            <a:extLst>
              <a:ext uri="{FF2B5EF4-FFF2-40B4-BE49-F238E27FC236}">
                <a16:creationId xmlns:a16="http://schemas.microsoft.com/office/drawing/2014/main" id="{95E7DDFE-E268-D657-BB06-7CD29DD0BD6E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n-US"/>
              <a:t>Haga clic para modificar el estilo de título del patrón</a:t>
            </a:r>
            <a:endParaRPr lang="es-VE" altLang="en-US"/>
          </a:p>
        </p:txBody>
      </p:sp>
      <p:sp>
        <p:nvSpPr>
          <p:cNvPr id="1027" name="2 Marcador de texto">
            <a:extLst>
              <a:ext uri="{FF2B5EF4-FFF2-40B4-BE49-F238E27FC236}">
                <a16:creationId xmlns:a16="http://schemas.microsoft.com/office/drawing/2014/main" id="{7557E5E1-91D6-2F7A-81AA-806D64CEE0A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n-US"/>
              <a:t>Haga clic para modificar el estilo de texto del patrón</a:t>
            </a:r>
          </a:p>
          <a:p>
            <a:pPr lvl="1"/>
            <a:r>
              <a:rPr lang="es-ES" altLang="en-US"/>
              <a:t>Segundo nivel</a:t>
            </a:r>
          </a:p>
          <a:p>
            <a:pPr lvl="2"/>
            <a:r>
              <a:rPr lang="es-ES" altLang="en-US"/>
              <a:t>Tercer nivel</a:t>
            </a:r>
          </a:p>
          <a:p>
            <a:pPr lvl="3"/>
            <a:r>
              <a:rPr lang="es-ES" altLang="en-US"/>
              <a:t>Cuarto nivel</a:t>
            </a:r>
          </a:p>
          <a:p>
            <a:pPr lvl="4"/>
            <a:r>
              <a:rPr lang="es-ES" altLang="en-US"/>
              <a:t>Quinto nivel</a:t>
            </a:r>
            <a:endParaRPr lang="es-VE" altLang="en-US"/>
          </a:p>
        </p:txBody>
      </p:sp>
      <p:sp>
        <p:nvSpPr>
          <p:cNvPr id="4" name="3 Marcador de fecha">
            <a:extLst>
              <a:ext uri="{FF2B5EF4-FFF2-40B4-BE49-F238E27FC236}">
                <a16:creationId xmlns:a16="http://schemas.microsoft.com/office/drawing/2014/main" id="{D2837575-95F2-C237-6C72-615ED87075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C75D68F1-506E-4ECD-A908-B5CA3D3D48F1}" type="datetimeFigureOut">
              <a:rPr lang="es-VE"/>
              <a:pPr>
                <a:defRPr/>
              </a:pPr>
              <a:t>27/11/2025</a:t>
            </a:fld>
            <a:endParaRPr lang="es-VE"/>
          </a:p>
        </p:txBody>
      </p:sp>
      <p:sp>
        <p:nvSpPr>
          <p:cNvPr id="5" name="4 Marcador de pie de página">
            <a:extLst>
              <a:ext uri="{FF2B5EF4-FFF2-40B4-BE49-F238E27FC236}">
                <a16:creationId xmlns:a16="http://schemas.microsoft.com/office/drawing/2014/main" id="{AD14D9E4-2A57-3200-A272-8B1FE53384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s-VE"/>
          </a:p>
        </p:txBody>
      </p:sp>
      <p:sp>
        <p:nvSpPr>
          <p:cNvPr id="6" name="5 Marcador de número de diapositiva">
            <a:extLst>
              <a:ext uri="{FF2B5EF4-FFF2-40B4-BE49-F238E27FC236}">
                <a16:creationId xmlns:a16="http://schemas.microsoft.com/office/drawing/2014/main" id="{A19A5731-5C8E-9175-3E7C-F570108C66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1D5CD8D5-129D-48FF-BB09-DC2A03B67706}" type="slidenum">
              <a:rPr lang="es-VE" altLang="en-US"/>
              <a:pPr/>
              <a:t>‹Nº›</a:t>
            </a:fld>
            <a:endParaRPr lang="es-VE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64" r:id="rId3"/>
    <p:sldLayoutId id="2147483673" r:id="rId4"/>
    <p:sldLayoutId id="214748367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V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1 Título">
            <a:extLst>
              <a:ext uri="{FF2B5EF4-FFF2-40B4-BE49-F238E27FC236}">
                <a16:creationId xmlns:a16="http://schemas.microsoft.com/office/drawing/2014/main" id="{CBFEDB35-6F1D-152F-E35E-DF97BC70BC3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VE" altLang="en-US" b="1"/>
              <a:t>Acta de Proyecto</a:t>
            </a:r>
          </a:p>
        </p:txBody>
      </p:sp>
      <p:sp>
        <p:nvSpPr>
          <p:cNvPr id="3" name="2 Subtítulo">
            <a:extLst>
              <a:ext uri="{FF2B5EF4-FFF2-40B4-BE49-F238E27FC236}">
                <a16:creationId xmlns:a16="http://schemas.microsoft.com/office/drawing/2014/main" id="{69F1A7F2-1904-26AE-664D-8730870261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429000"/>
            <a:ext cx="6400800" cy="2428875"/>
          </a:xfrm>
        </p:spPr>
        <p:txBody>
          <a:bodyPr rtlCol="0">
            <a:normAutofit fontScale="77500" lnSpcReduction="20000"/>
          </a:bodyPr>
          <a:lstStyle/>
          <a:p>
            <a:pPr algn="l" fontAlgn="auto">
              <a:spcAft>
                <a:spcPts val="0"/>
              </a:spcAft>
              <a:defRPr/>
            </a:pPr>
            <a:r>
              <a:rPr lang="es-VE" sz="2800" b="1"/>
              <a:t>Proyecto: Integración Escolar</a:t>
            </a:r>
            <a:endParaRPr lang="es-VE" sz="2800" b="1">
              <a:solidFill>
                <a:srgbClr val="00B050"/>
              </a:solidFill>
            </a:endParaRPr>
          </a:p>
          <a:p>
            <a:pPr algn="l" fontAlgn="auto">
              <a:spcAft>
                <a:spcPts val="0"/>
              </a:spcAft>
              <a:defRPr/>
            </a:pPr>
            <a:r>
              <a:rPr lang="es-VE" sz="2800" b="1"/>
              <a:t>Organización: Centro Universitario UAEM Zumpango</a:t>
            </a:r>
            <a:endParaRPr lang="es-VE" sz="2800" b="1">
              <a:solidFill>
                <a:srgbClr val="00B050"/>
              </a:solidFill>
            </a:endParaRPr>
          </a:p>
          <a:p>
            <a:pPr algn="l" fontAlgn="auto">
              <a:spcAft>
                <a:spcPts val="0"/>
              </a:spcAft>
              <a:defRPr/>
            </a:pPr>
            <a:r>
              <a:rPr lang="es-VE" sz="2800" b="1"/>
              <a:t>Fecha: 19/09/2025</a:t>
            </a:r>
            <a:endParaRPr lang="es-VE" sz="2800" b="1">
              <a:solidFill>
                <a:srgbClr val="00B050"/>
              </a:solidFill>
            </a:endParaRPr>
          </a:p>
          <a:p>
            <a:pPr algn="l" fontAlgn="auto">
              <a:spcAft>
                <a:spcPts val="0"/>
              </a:spcAft>
              <a:defRPr/>
            </a:pPr>
            <a:r>
              <a:rPr lang="es-VE" sz="2800" b="1"/>
              <a:t>Cliente: Ing. </a:t>
            </a:r>
            <a:r>
              <a:rPr lang="es-VE" sz="2800" b="1" err="1"/>
              <a:t>Hazem</a:t>
            </a:r>
            <a:r>
              <a:rPr lang="es-VE" sz="2800" b="1"/>
              <a:t> Álvarez Rodríguez  </a:t>
            </a:r>
          </a:p>
          <a:p>
            <a:pPr algn="l" fontAlgn="auto">
              <a:spcAft>
                <a:spcPts val="0"/>
              </a:spcAft>
              <a:defRPr/>
            </a:pPr>
            <a:r>
              <a:rPr lang="es-VE" sz="2800" b="1"/>
              <a:t>Patrocinador: Centro Universitario UAEM Zumpango</a:t>
            </a:r>
          </a:p>
          <a:p>
            <a:pPr algn="l" fontAlgn="auto">
              <a:spcAft>
                <a:spcPts val="0"/>
              </a:spcAft>
              <a:defRPr/>
            </a:pPr>
            <a:r>
              <a:rPr lang="es-VE" sz="2800" b="1"/>
              <a:t>Gerente del Proyecto: Raúl Alejandro Calderón Hernández </a:t>
            </a:r>
          </a:p>
          <a:p>
            <a:pPr algn="l" fontAlgn="auto">
              <a:spcAft>
                <a:spcPts val="0"/>
              </a:spcAft>
              <a:defRPr/>
            </a:pPr>
            <a:endParaRPr lang="es-VE" sz="2800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CC904-EBFD-2D0D-2263-A9B75825F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2 Marcador de contenido">
            <a:extLst>
              <a:ext uri="{FF2B5EF4-FFF2-40B4-BE49-F238E27FC236}">
                <a16:creationId xmlns:a16="http://schemas.microsoft.com/office/drawing/2014/main" id="{44A523D4-95D7-9995-D7C9-AF8681F098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0875" y="1772816"/>
            <a:ext cx="8531605" cy="4752528"/>
          </a:xfrm>
          <a:ln w="31750"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/>
          <a:p>
            <a:pPr marL="85725" indent="0" algn="ctr">
              <a:buFont typeface="Arial" panose="020B0604020202020204" pitchFamily="34" charset="0"/>
              <a:buNone/>
            </a:pPr>
            <a:r>
              <a:rPr lang="es-VE" altLang="en-US" sz="1800" b="1"/>
              <a:t>Justificación y Descripción del Proyecto</a:t>
            </a:r>
          </a:p>
          <a:p>
            <a:pPr marL="85725" indent="0" algn="ctr">
              <a:buFont typeface="Arial" panose="020B0604020202020204" pitchFamily="34" charset="0"/>
              <a:buNone/>
            </a:pPr>
            <a:endParaRPr lang="es-VE" altLang="en-US" sz="1800"/>
          </a:p>
          <a:p>
            <a:pPr marL="85725" indent="0">
              <a:buNone/>
            </a:pPr>
            <a:r>
              <a:rPr lang="es-MX" sz="1800" b="1"/>
              <a:t>Justificación</a:t>
            </a:r>
          </a:p>
          <a:p>
            <a:pPr marL="85725" indent="0">
              <a:buNone/>
            </a:pPr>
            <a:r>
              <a:rPr lang="es-MX" sz="1800"/>
              <a:t>Los estudiantes de nuevo ingreso enfrentan dificultades para socializar, lo que genera timidez, desconocimiento y fragmentación del entorno escolar. Esto afecta negativamente la colaboración, el sentido de pertenencia y la retención escolar, además de dificultar el trabajo en equipo debido al desconocimiento de las actitudes y formas de interacción de sus compañeros al momento de colaborar en actividades académicas o proyectos grupales.</a:t>
            </a:r>
          </a:p>
          <a:p>
            <a:pPr marL="85725" indent="0">
              <a:buNone/>
            </a:pPr>
            <a:endParaRPr lang="es-MX" altLang="en-US" sz="1800"/>
          </a:p>
        </p:txBody>
      </p:sp>
      <p:sp>
        <p:nvSpPr>
          <p:cNvPr id="18" name="1 Título">
            <a:extLst>
              <a:ext uri="{FF2B5EF4-FFF2-40B4-BE49-F238E27FC236}">
                <a16:creationId xmlns:a16="http://schemas.microsoft.com/office/drawing/2014/main" id="{23E1C4D0-03F3-C19E-CD52-E761F2F31312}"/>
              </a:ext>
            </a:extLst>
          </p:cNvPr>
          <p:cNvSpPr txBox="1">
            <a:spLocks/>
          </p:cNvSpPr>
          <p:nvPr/>
        </p:nvSpPr>
        <p:spPr>
          <a:xfrm>
            <a:off x="685800" y="1214438"/>
            <a:ext cx="7772400" cy="357187"/>
          </a:xfrm>
          <a:prstGeom prst="rect">
            <a:avLst/>
          </a:prstGeom>
        </p:spPr>
        <p:txBody>
          <a:bodyPr anchor="ctr">
            <a:normAutofit fontScale="92500" lnSpcReduction="10000"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s-VE" sz="2000" b="1">
                <a:latin typeface="+mj-lt"/>
                <a:ea typeface="+mj-ea"/>
                <a:cs typeface="+mj-cs"/>
              </a:rPr>
              <a:t>[Integración Escolar]</a:t>
            </a:r>
          </a:p>
        </p:txBody>
      </p:sp>
    </p:spTree>
    <p:extLst>
      <p:ext uri="{BB962C8B-B14F-4D97-AF65-F5344CB8AC3E}">
        <p14:creationId xmlns:p14="http://schemas.microsoft.com/office/powerpoint/2010/main" val="34425065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2 Marcador de contenido">
            <a:extLst>
              <a:ext uri="{FF2B5EF4-FFF2-40B4-BE49-F238E27FC236}">
                <a16:creationId xmlns:a16="http://schemas.microsoft.com/office/drawing/2014/main" id="{BB3067A9-9130-C797-48F6-8C6FD3584E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0875" y="1772816"/>
            <a:ext cx="8531605" cy="4752528"/>
          </a:xfrm>
          <a:ln w="31750"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/>
          <a:p>
            <a:pPr marL="85725" indent="0" algn="ctr">
              <a:buFont typeface="Arial" panose="020B0604020202020204" pitchFamily="34" charset="0"/>
              <a:buNone/>
            </a:pPr>
            <a:r>
              <a:rPr lang="es-VE" altLang="en-US" sz="1800" b="1"/>
              <a:t>Justificación y Descripción del Proyecto</a:t>
            </a:r>
            <a:endParaRPr lang="es-VE" altLang="en-US" sz="1800"/>
          </a:p>
          <a:p>
            <a:pPr marL="85725" indent="0">
              <a:buNone/>
            </a:pPr>
            <a:endParaRPr lang="es-MX" altLang="en-US" sz="1800"/>
          </a:p>
          <a:p>
            <a:pPr marL="85725" indent="0">
              <a:buNone/>
            </a:pPr>
            <a:r>
              <a:rPr lang="es-VE" altLang="en-US" sz="1800" b="1"/>
              <a:t>Descripción de proyecto</a:t>
            </a:r>
          </a:p>
          <a:p>
            <a:pPr marL="85725" indent="0">
              <a:buNone/>
            </a:pPr>
            <a:r>
              <a:rPr lang="es-MX" sz="1800"/>
              <a:t>El proyecto busca promover la integración de los estudiantes de nuevo ingreso mediante la aplicación de actividades colaborativas y recreativas diseñadas para favorecer la interacción social. Estas dinámicas permitirán a los participantes conocerse mejor, desarrollar habilidades de comunicación, generar confianza  y fortalecer el sentido de pertenencia. Con ello, se pretende construir un ambiente académico más inclusivo y participativo que facilite el trabajo en equipo y potencie tanto el rendimiento académico. </a:t>
            </a:r>
            <a:endParaRPr lang="es-VE" altLang="en-US" sz="1800"/>
          </a:p>
        </p:txBody>
      </p:sp>
      <p:sp>
        <p:nvSpPr>
          <p:cNvPr id="18" name="1 Título">
            <a:extLst>
              <a:ext uri="{FF2B5EF4-FFF2-40B4-BE49-F238E27FC236}">
                <a16:creationId xmlns:a16="http://schemas.microsoft.com/office/drawing/2014/main" id="{B8E52107-0BF4-4ACA-2F41-24914B98A6B4}"/>
              </a:ext>
            </a:extLst>
          </p:cNvPr>
          <p:cNvSpPr txBox="1">
            <a:spLocks/>
          </p:cNvSpPr>
          <p:nvPr/>
        </p:nvSpPr>
        <p:spPr>
          <a:xfrm>
            <a:off x="685800" y="1214438"/>
            <a:ext cx="7772400" cy="357187"/>
          </a:xfrm>
          <a:prstGeom prst="rect">
            <a:avLst/>
          </a:prstGeom>
        </p:spPr>
        <p:txBody>
          <a:bodyPr anchor="ctr">
            <a:normAutofit fontScale="92500" lnSpcReduction="10000"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s-VE" sz="2000" b="1">
                <a:latin typeface="+mj-lt"/>
                <a:ea typeface="+mj-ea"/>
                <a:cs typeface="+mj-cs"/>
              </a:rPr>
              <a:t>[Integración Escolar]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9E1539-49F6-AA1C-7E2C-D4EE42825E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2 Marcador de contenido">
            <a:extLst>
              <a:ext uri="{FF2B5EF4-FFF2-40B4-BE49-F238E27FC236}">
                <a16:creationId xmlns:a16="http://schemas.microsoft.com/office/drawing/2014/main" id="{4DB9AB31-1D0C-C9CE-E51A-593A61204B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14312" y="1700808"/>
            <a:ext cx="8750175" cy="4871442"/>
          </a:xfrm>
          <a:ln w="31750"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/>
          <a:p>
            <a:pPr marL="85725" indent="0" algn="ctr">
              <a:buFont typeface="Arial" panose="020B0604020202020204" pitchFamily="34" charset="0"/>
              <a:buNone/>
            </a:pPr>
            <a:r>
              <a:rPr lang="es-VE" altLang="en-US" sz="1800" b="1"/>
              <a:t>Objetivos</a:t>
            </a:r>
          </a:p>
          <a:p>
            <a:pPr marL="0" indent="0">
              <a:buNone/>
            </a:pPr>
            <a:r>
              <a:rPr lang="es-MX" sz="1800" b="1"/>
              <a:t>Objetivo General</a:t>
            </a:r>
          </a:p>
          <a:p>
            <a:pPr marL="0" indent="0">
              <a:buNone/>
            </a:pPr>
            <a:r>
              <a:rPr lang="es-MX" sz="1800"/>
              <a:t>Promover la cohesión grupal y la participación académica de los estudiantes de nuevo ingreso.</a:t>
            </a:r>
          </a:p>
          <a:p>
            <a:pPr marL="0" indent="0">
              <a:buNone/>
            </a:pPr>
            <a:endParaRPr lang="es-MX" sz="1800"/>
          </a:p>
          <a:p>
            <a:pPr marL="0" indent="0">
              <a:buNone/>
            </a:pPr>
            <a:r>
              <a:rPr lang="es-MX" sz="1800" b="1"/>
              <a:t>Objetivos Específicos</a:t>
            </a:r>
          </a:p>
          <a:p>
            <a:pPr lvl="1"/>
            <a:r>
              <a:rPr lang="es-MX" sz="1800"/>
              <a:t>Diseñar dinámicas grupales que promuevan la interacción entre estudiantes.</a:t>
            </a:r>
          </a:p>
          <a:p>
            <a:pPr lvl="1"/>
            <a:r>
              <a:rPr lang="es-MX" sz="1800"/>
              <a:t>Implementar estrategias lúdicas que reduzcan la timidez y aumenten la confianza.</a:t>
            </a:r>
          </a:p>
          <a:p>
            <a:pPr lvl="1"/>
            <a:r>
              <a:rPr lang="es-MX" sz="1800"/>
              <a:t>Evaluar el impacto de las actividades en la cohesión grupal y participación académica.</a:t>
            </a:r>
          </a:p>
          <a:p>
            <a:pPr marL="85725" indent="0">
              <a:buFont typeface="Arial" panose="020B0604020202020204" pitchFamily="34" charset="0"/>
              <a:buNone/>
            </a:pPr>
            <a:endParaRPr lang="es-VE" altLang="en-US" sz="1800" b="1"/>
          </a:p>
          <a:p>
            <a:pPr marL="85725" indent="0">
              <a:buFont typeface="Arial" panose="020B0604020202020204" pitchFamily="34" charset="0"/>
              <a:buNone/>
            </a:pPr>
            <a:endParaRPr lang="es-VE" altLang="en-US" sz="1800"/>
          </a:p>
        </p:txBody>
      </p:sp>
      <p:sp>
        <p:nvSpPr>
          <p:cNvPr id="18" name="1 Título">
            <a:extLst>
              <a:ext uri="{FF2B5EF4-FFF2-40B4-BE49-F238E27FC236}">
                <a16:creationId xmlns:a16="http://schemas.microsoft.com/office/drawing/2014/main" id="{8DAD06A9-9C10-6421-3010-8459F1D82C63}"/>
              </a:ext>
            </a:extLst>
          </p:cNvPr>
          <p:cNvSpPr txBox="1">
            <a:spLocks/>
          </p:cNvSpPr>
          <p:nvPr/>
        </p:nvSpPr>
        <p:spPr>
          <a:xfrm>
            <a:off x="685800" y="1214438"/>
            <a:ext cx="7772400" cy="357187"/>
          </a:xfrm>
          <a:prstGeom prst="rect">
            <a:avLst/>
          </a:prstGeom>
        </p:spPr>
        <p:txBody>
          <a:bodyPr anchor="ctr">
            <a:normAutofit fontScale="92500" lnSpcReduction="10000"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s-VE" sz="2000" b="1">
                <a:latin typeface="+mj-lt"/>
                <a:ea typeface="+mj-ea"/>
                <a:cs typeface="+mj-cs"/>
              </a:rPr>
              <a:t>[Integración Escolar]</a:t>
            </a:r>
          </a:p>
        </p:txBody>
      </p:sp>
    </p:spTree>
    <p:extLst>
      <p:ext uri="{BB962C8B-B14F-4D97-AF65-F5344CB8AC3E}">
        <p14:creationId xmlns:p14="http://schemas.microsoft.com/office/powerpoint/2010/main" val="15841026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0580A2-69A4-CAA4-5E85-42DA2A7C3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2 Marcador de contenido">
            <a:extLst>
              <a:ext uri="{FF2B5EF4-FFF2-40B4-BE49-F238E27FC236}">
                <a16:creationId xmlns:a16="http://schemas.microsoft.com/office/drawing/2014/main" id="{12C9B198-7BAE-56DF-44E0-8AB088226A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14312" y="1700808"/>
            <a:ext cx="8750175" cy="4871442"/>
          </a:xfrm>
          <a:ln w="31750"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/>
          <a:p>
            <a:pPr marL="85725" indent="0" algn="ctr">
              <a:buFont typeface="Arial" panose="020B0604020202020204" pitchFamily="34" charset="0"/>
              <a:buNone/>
            </a:pPr>
            <a:r>
              <a:rPr lang="es-VE" altLang="en-US" sz="1800" b="1"/>
              <a:t>Objetivos</a:t>
            </a:r>
          </a:p>
          <a:p>
            <a:pPr marL="85725" indent="0">
              <a:buFont typeface="Arial" panose="020B0604020202020204" pitchFamily="34" charset="0"/>
              <a:buNone/>
            </a:pPr>
            <a:r>
              <a:rPr lang="es-MX" altLang="en-US" sz="1800" b="1"/>
              <a:t>Alcance</a:t>
            </a:r>
          </a:p>
          <a:p>
            <a:pPr marL="85725" indent="0">
              <a:buFont typeface="Arial" panose="020B0604020202020204" pitchFamily="34" charset="0"/>
              <a:buNone/>
            </a:pPr>
            <a:r>
              <a:rPr lang="es-MX" altLang="en-US" sz="1800"/>
              <a:t>Objetivos de alcance:</a:t>
            </a:r>
            <a:endParaRPr lang="es-MX" altLang="en-US" sz="1400"/>
          </a:p>
          <a:p>
            <a:pPr marL="771525" lvl="1"/>
            <a:r>
              <a:rPr lang="es-MX" altLang="en-US" sz="1800"/>
              <a:t>Incluir a los estudiantes de nuevo ingreso en actividades que fortalezcan su integración dentro y fuera del aula.</a:t>
            </a:r>
          </a:p>
          <a:p>
            <a:pPr marL="771525" lvl="1"/>
            <a:r>
              <a:rPr lang="es-MX" altLang="en-US" sz="1800"/>
              <a:t>Mejorar la comunicación, el trabajo en equipo y el sentido de pertenencia institucional.</a:t>
            </a:r>
          </a:p>
          <a:p>
            <a:pPr marL="85725" indent="0">
              <a:buFont typeface="Arial" panose="020B0604020202020204" pitchFamily="34" charset="0"/>
              <a:buNone/>
            </a:pPr>
            <a:endParaRPr lang="es-MX" altLang="en-US" sz="1800"/>
          </a:p>
          <a:p>
            <a:pPr marL="85725" indent="0">
              <a:buFont typeface="Arial" panose="020B0604020202020204" pitchFamily="34" charset="0"/>
              <a:buNone/>
            </a:pPr>
            <a:r>
              <a:rPr lang="es-MX" altLang="en-US" sz="1800"/>
              <a:t>Requerimientos:</a:t>
            </a:r>
          </a:p>
          <a:p>
            <a:pPr marL="771525" lvl="1"/>
            <a:r>
              <a:rPr lang="es-MX" altLang="en-US" sz="1800"/>
              <a:t>Planificación de actividades participativas (juegos, entrevistas, dinámicas lúdicas).</a:t>
            </a:r>
          </a:p>
          <a:p>
            <a:pPr marL="771525" lvl="1"/>
            <a:r>
              <a:rPr lang="es-MX" altLang="en-US" sz="1800"/>
              <a:t>Espacios físicos y apoyo institucional para el desarrollo de las dinámicas.</a:t>
            </a:r>
          </a:p>
          <a:p>
            <a:pPr marL="771525" lvl="1"/>
            <a:r>
              <a:rPr lang="es-MX" altLang="en-US" sz="1800"/>
              <a:t>Materiales de bajo costo (hojas, tarjetas, objetos para juegos).</a:t>
            </a:r>
          </a:p>
          <a:p>
            <a:pPr marL="771525" lvl="1"/>
            <a:r>
              <a:rPr lang="es-MX" altLang="en-US" sz="1800"/>
              <a:t>Facilitadores o responsables que supervisen la implementación.</a:t>
            </a:r>
            <a:endParaRPr lang="es-VE" altLang="en-US" sz="1800"/>
          </a:p>
        </p:txBody>
      </p:sp>
      <p:sp>
        <p:nvSpPr>
          <p:cNvPr id="18" name="1 Título">
            <a:extLst>
              <a:ext uri="{FF2B5EF4-FFF2-40B4-BE49-F238E27FC236}">
                <a16:creationId xmlns:a16="http://schemas.microsoft.com/office/drawing/2014/main" id="{9C8B7689-B8C1-726F-92EE-D5D37ABEBA54}"/>
              </a:ext>
            </a:extLst>
          </p:cNvPr>
          <p:cNvSpPr txBox="1">
            <a:spLocks/>
          </p:cNvSpPr>
          <p:nvPr/>
        </p:nvSpPr>
        <p:spPr>
          <a:xfrm>
            <a:off x="685800" y="1214438"/>
            <a:ext cx="7772400" cy="357187"/>
          </a:xfrm>
          <a:prstGeom prst="rect">
            <a:avLst/>
          </a:prstGeom>
        </p:spPr>
        <p:txBody>
          <a:bodyPr anchor="ctr">
            <a:normAutofit fontScale="92500" lnSpcReduction="10000"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s-VE" sz="2000" b="1">
                <a:latin typeface="+mj-lt"/>
                <a:ea typeface="+mj-ea"/>
                <a:cs typeface="+mj-cs"/>
              </a:rPr>
              <a:t>[Integración Escolar]</a:t>
            </a:r>
          </a:p>
        </p:txBody>
      </p:sp>
    </p:spTree>
    <p:extLst>
      <p:ext uri="{BB962C8B-B14F-4D97-AF65-F5344CB8AC3E}">
        <p14:creationId xmlns:p14="http://schemas.microsoft.com/office/powerpoint/2010/main" val="38737993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16B85C-B268-7EC9-560C-0B3C13BC9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2 Marcador de contenido">
            <a:extLst>
              <a:ext uri="{FF2B5EF4-FFF2-40B4-BE49-F238E27FC236}">
                <a16:creationId xmlns:a16="http://schemas.microsoft.com/office/drawing/2014/main" id="{12192C51-DE66-177F-D8CF-B0AEEF369A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14312" y="1700808"/>
            <a:ext cx="8750175" cy="4871442"/>
          </a:xfrm>
          <a:ln w="31750"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/>
          <a:p>
            <a:pPr marL="85725" indent="0" algn="ctr">
              <a:buFont typeface="Arial" panose="020B0604020202020204" pitchFamily="34" charset="0"/>
              <a:buNone/>
            </a:pPr>
            <a:r>
              <a:rPr lang="es-VE" altLang="en-US" sz="1800" b="1"/>
              <a:t>Objetivos</a:t>
            </a:r>
          </a:p>
          <a:p>
            <a:pPr marL="85725" indent="0">
              <a:buFont typeface="Arial" panose="020B0604020202020204" pitchFamily="34" charset="0"/>
              <a:buNone/>
            </a:pPr>
            <a:r>
              <a:rPr lang="es-MX" altLang="en-US" sz="1800" b="1"/>
              <a:t>Tiempo</a:t>
            </a:r>
          </a:p>
          <a:p>
            <a:pPr marL="371475" indent="-285750"/>
            <a:r>
              <a:rPr lang="es-MX" altLang="en-US" sz="1800"/>
              <a:t>Fecha de inicio:  05/08/2025</a:t>
            </a:r>
          </a:p>
          <a:p>
            <a:pPr marL="371475" indent="-285750"/>
            <a:r>
              <a:rPr lang="es-MX" altLang="en-US" sz="1800"/>
              <a:t>Fecha de finalización: 17/12/2025</a:t>
            </a:r>
          </a:p>
          <a:p>
            <a:pPr marL="371475" indent="-285750"/>
            <a:r>
              <a:rPr lang="es-MX" altLang="en-US" sz="1800"/>
              <a:t>Duración estimada: 19 semanas, distribuidas en actividades semanales de integración y cierre.</a:t>
            </a:r>
          </a:p>
          <a:p>
            <a:pPr marL="85725" indent="0">
              <a:buFont typeface="Arial" panose="020B0604020202020204" pitchFamily="34" charset="0"/>
              <a:buNone/>
            </a:pPr>
            <a:endParaRPr lang="es-MX" altLang="en-US" sz="1800"/>
          </a:p>
          <a:p>
            <a:pPr marL="85725" indent="0">
              <a:buFont typeface="Arial" panose="020B0604020202020204" pitchFamily="34" charset="0"/>
              <a:buNone/>
            </a:pPr>
            <a:r>
              <a:rPr lang="es-MX" altLang="en-US" sz="1800" b="1"/>
              <a:t>Costo </a:t>
            </a:r>
          </a:p>
          <a:p>
            <a:pPr marL="371475" indent="-285750"/>
            <a:r>
              <a:rPr lang="es-MX" altLang="en-US" sz="1800"/>
              <a:t>Presupuesto para materiales didácticos.</a:t>
            </a:r>
          </a:p>
          <a:p>
            <a:pPr marL="371475" indent="-285750"/>
            <a:r>
              <a:rPr lang="es-MX" sz="1800"/>
              <a:t>Apoyo institucional para espacios y supervisión.</a:t>
            </a:r>
            <a:endParaRPr lang="es-MX" altLang="en-US" sz="1800"/>
          </a:p>
          <a:p>
            <a:pPr marL="371475" indent="-285750"/>
            <a:r>
              <a:rPr lang="es-MX" sz="1800"/>
              <a:t>No requiere inversión en infraestructura, solo insumos mínimos y tiempo de coordinación.</a:t>
            </a:r>
            <a:endParaRPr lang="es-MX" altLang="en-US" sz="1800"/>
          </a:p>
          <a:p>
            <a:pPr marL="371475" indent="-285750"/>
            <a:endParaRPr lang="es-MX" altLang="en-US" sz="1800"/>
          </a:p>
          <a:p>
            <a:pPr marL="85725" indent="0">
              <a:buFont typeface="Arial" panose="020B0604020202020204" pitchFamily="34" charset="0"/>
              <a:buNone/>
            </a:pPr>
            <a:endParaRPr lang="es-MX" altLang="en-US" sz="1800"/>
          </a:p>
          <a:p>
            <a:pPr marL="371475" indent="-285750"/>
            <a:endParaRPr lang="es-MX" altLang="en-US" sz="1800"/>
          </a:p>
          <a:p>
            <a:pPr marL="85725" indent="0">
              <a:buFont typeface="Arial" panose="020B0604020202020204" pitchFamily="34" charset="0"/>
              <a:buNone/>
            </a:pPr>
            <a:endParaRPr lang="es-VE" altLang="en-US" sz="1800"/>
          </a:p>
        </p:txBody>
      </p:sp>
      <p:sp>
        <p:nvSpPr>
          <p:cNvPr id="18" name="1 Título">
            <a:extLst>
              <a:ext uri="{FF2B5EF4-FFF2-40B4-BE49-F238E27FC236}">
                <a16:creationId xmlns:a16="http://schemas.microsoft.com/office/drawing/2014/main" id="{25694554-2C0B-4E36-BA77-B238456879D9}"/>
              </a:ext>
            </a:extLst>
          </p:cNvPr>
          <p:cNvSpPr txBox="1">
            <a:spLocks/>
          </p:cNvSpPr>
          <p:nvPr/>
        </p:nvSpPr>
        <p:spPr>
          <a:xfrm>
            <a:off x="685800" y="1214438"/>
            <a:ext cx="7772400" cy="357187"/>
          </a:xfrm>
          <a:prstGeom prst="rect">
            <a:avLst/>
          </a:prstGeom>
        </p:spPr>
        <p:txBody>
          <a:bodyPr anchor="ctr">
            <a:normAutofit fontScale="92500" lnSpcReduction="10000"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s-VE" sz="2000" b="1">
                <a:latin typeface="+mj-lt"/>
                <a:ea typeface="+mj-ea"/>
                <a:cs typeface="+mj-cs"/>
              </a:rPr>
              <a:t>[Integración Escolar]</a:t>
            </a:r>
          </a:p>
        </p:txBody>
      </p:sp>
    </p:spTree>
    <p:extLst>
      <p:ext uri="{BB962C8B-B14F-4D97-AF65-F5344CB8AC3E}">
        <p14:creationId xmlns:p14="http://schemas.microsoft.com/office/powerpoint/2010/main" val="1294295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EA827-F721-F03D-A64C-76504B8CC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2 Marcador de contenido">
            <a:extLst>
              <a:ext uri="{FF2B5EF4-FFF2-40B4-BE49-F238E27FC236}">
                <a16:creationId xmlns:a16="http://schemas.microsoft.com/office/drawing/2014/main" id="{26782EB6-DB9E-9277-6157-C4C9387530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14312" y="1700808"/>
            <a:ext cx="8750175" cy="4871442"/>
          </a:xfrm>
          <a:ln w="31750"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/>
          <a:p>
            <a:pPr marL="85725" indent="0" algn="ctr">
              <a:buFont typeface="Arial" panose="020B0604020202020204" pitchFamily="34" charset="0"/>
              <a:buNone/>
            </a:pPr>
            <a:r>
              <a:rPr lang="es-VE" altLang="en-US" sz="1800" b="1"/>
              <a:t>Objetivos</a:t>
            </a:r>
          </a:p>
          <a:p>
            <a:pPr marL="85725" indent="0">
              <a:buFont typeface="Arial" panose="020B0604020202020204" pitchFamily="34" charset="0"/>
              <a:buNone/>
            </a:pPr>
            <a:r>
              <a:rPr lang="es-MX" altLang="en-US" sz="1800" b="1"/>
              <a:t>Calidad</a:t>
            </a:r>
          </a:p>
          <a:p>
            <a:pPr marL="0" indent="0">
              <a:buNone/>
            </a:pPr>
            <a:r>
              <a:rPr lang="es-MX" sz="1800"/>
              <a:t>  Especificaciones / Restricciones técnicas:</a:t>
            </a:r>
          </a:p>
          <a:p>
            <a:pPr lvl="1"/>
            <a:r>
              <a:rPr lang="es-MX" sz="1700"/>
              <a:t>Todas las actividades deben ser inclusivas y accesibles para la totalidad de estudiantes.</a:t>
            </a:r>
          </a:p>
          <a:p>
            <a:pPr lvl="1"/>
            <a:r>
              <a:rPr lang="es-MX" sz="1700"/>
              <a:t>Diseño de dinámicas con objetivos claros y medibles.</a:t>
            </a:r>
          </a:p>
          <a:p>
            <a:pPr lvl="1"/>
            <a:r>
              <a:rPr lang="es-MX" sz="1700"/>
              <a:t>Uso de materiales adecuados, seguros y de bajo costo que no representen riesgos.</a:t>
            </a:r>
          </a:p>
          <a:p>
            <a:pPr lvl="1"/>
            <a:r>
              <a:rPr lang="es-MX" sz="1700"/>
              <a:t>Supervisión de las actividades por parte de un facilitador o docente responsable.</a:t>
            </a:r>
          </a:p>
          <a:p>
            <a:pPr lvl="1"/>
            <a:r>
              <a:rPr lang="es-MX" sz="1700"/>
              <a:t>Cumplimiento de un cronograma previamente establecido para garantizar la continuidad.</a:t>
            </a:r>
          </a:p>
          <a:p>
            <a:pPr lvl="1"/>
            <a:r>
              <a:rPr lang="es-MX" sz="1700"/>
              <a:t>Retroalimentación constante de los participantes para mejorar las actividades en cada sesión.</a:t>
            </a:r>
          </a:p>
          <a:p>
            <a:pPr lvl="1"/>
            <a:r>
              <a:rPr lang="es-MX" sz="1700"/>
              <a:t>Registro de la participación y resultados obtenidos como evidencia para futuras mejoras.</a:t>
            </a:r>
          </a:p>
          <a:p>
            <a:pPr lvl="1"/>
            <a:r>
              <a:rPr lang="es-MX" sz="1700"/>
              <a:t>Garantía de un ambiente de respeto, confianza y colaboración durante todas las dinámicas.</a:t>
            </a:r>
          </a:p>
          <a:p>
            <a:pPr lvl="1"/>
            <a:r>
              <a:rPr lang="es-MX" sz="1700"/>
              <a:t>Evaluación del impacto mediante indicadores (</a:t>
            </a:r>
            <a:r>
              <a:rPr lang="es-MX" sz="1700" err="1"/>
              <a:t>KPIs</a:t>
            </a:r>
            <a:r>
              <a:rPr lang="es-MX" sz="1700"/>
              <a:t>).</a:t>
            </a:r>
          </a:p>
          <a:p>
            <a:pPr marL="85725" indent="0">
              <a:buNone/>
            </a:pPr>
            <a:endParaRPr lang="es-MX" altLang="en-US" sz="1800"/>
          </a:p>
          <a:p>
            <a:pPr marL="85725" indent="0">
              <a:buFont typeface="Arial" panose="020B0604020202020204" pitchFamily="34" charset="0"/>
              <a:buNone/>
            </a:pPr>
            <a:endParaRPr lang="es-MX" altLang="en-US" sz="1800"/>
          </a:p>
          <a:p>
            <a:pPr marL="371475" indent="-285750"/>
            <a:endParaRPr lang="es-MX" altLang="en-US" sz="1800"/>
          </a:p>
          <a:p>
            <a:pPr marL="85725" indent="0">
              <a:buFont typeface="Arial" panose="020B0604020202020204" pitchFamily="34" charset="0"/>
              <a:buNone/>
            </a:pPr>
            <a:endParaRPr lang="es-VE" altLang="en-US" sz="1800"/>
          </a:p>
        </p:txBody>
      </p:sp>
      <p:sp>
        <p:nvSpPr>
          <p:cNvPr id="18" name="1 Título">
            <a:extLst>
              <a:ext uri="{FF2B5EF4-FFF2-40B4-BE49-F238E27FC236}">
                <a16:creationId xmlns:a16="http://schemas.microsoft.com/office/drawing/2014/main" id="{709EA251-5C8D-B322-7433-FEB5E95EBDF4}"/>
              </a:ext>
            </a:extLst>
          </p:cNvPr>
          <p:cNvSpPr txBox="1">
            <a:spLocks/>
          </p:cNvSpPr>
          <p:nvPr/>
        </p:nvSpPr>
        <p:spPr>
          <a:xfrm>
            <a:off x="685800" y="1214438"/>
            <a:ext cx="7772400" cy="357187"/>
          </a:xfrm>
          <a:prstGeom prst="rect">
            <a:avLst/>
          </a:prstGeom>
        </p:spPr>
        <p:txBody>
          <a:bodyPr anchor="ctr">
            <a:normAutofit fontScale="92500" lnSpcReduction="10000"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s-VE" sz="2000" b="1">
                <a:latin typeface="+mj-lt"/>
                <a:ea typeface="+mj-ea"/>
                <a:cs typeface="+mj-cs"/>
              </a:rPr>
              <a:t>[Integración Escolar]</a:t>
            </a:r>
          </a:p>
        </p:txBody>
      </p:sp>
    </p:spTree>
    <p:extLst>
      <p:ext uri="{BB962C8B-B14F-4D97-AF65-F5344CB8AC3E}">
        <p14:creationId xmlns:p14="http://schemas.microsoft.com/office/powerpoint/2010/main" val="34641448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B1DD3F-B162-B8C6-9FDD-DD3563BB9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2 Marcador de contenido">
            <a:extLst>
              <a:ext uri="{FF2B5EF4-FFF2-40B4-BE49-F238E27FC236}">
                <a16:creationId xmlns:a16="http://schemas.microsoft.com/office/drawing/2014/main" id="{86E794D2-6180-712F-0318-9EE74F5C2D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1520" y="1636713"/>
            <a:ext cx="8649593" cy="4960639"/>
          </a:xfrm>
          <a:ln w="31750">
            <a:solidFill>
              <a:schemeClr val="accent1"/>
            </a:solidFill>
          </a:ln>
        </p:spPr>
        <p:txBody>
          <a:bodyPr rtlCol="0">
            <a:normAutofit/>
          </a:bodyPr>
          <a:lstStyle/>
          <a:p>
            <a:pPr marL="85725" indent="0" algn="ctr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s-VE" sz="1800" b="1"/>
              <a:t>Riesgos Generales</a:t>
            </a:r>
          </a:p>
          <a:p>
            <a:pPr marL="85725" indent="0" algn="ctr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s-VE" sz="1800" b="1"/>
          </a:p>
          <a:p>
            <a:pPr marL="428625" fontAlgn="auto">
              <a:spcAft>
                <a:spcPts val="0"/>
              </a:spcAft>
              <a:buFont typeface="+mj-lt"/>
              <a:buAutoNum type="arabicPeriod"/>
              <a:defRPr/>
            </a:pPr>
            <a:r>
              <a:rPr lang="es-VE" sz="1800"/>
              <a:t>Baja participación estudiantil en la dinámica.</a:t>
            </a:r>
          </a:p>
          <a:p>
            <a:pPr marL="428625" fontAlgn="auto">
              <a:spcAft>
                <a:spcPts val="0"/>
              </a:spcAft>
              <a:buFont typeface="+mj-lt"/>
              <a:buAutoNum type="arabicPeriod"/>
              <a:defRPr/>
            </a:pPr>
            <a:r>
              <a:rPr lang="es-VE" sz="1800"/>
              <a:t>Desinterés o actitudes poco cooperativas.</a:t>
            </a:r>
          </a:p>
          <a:p>
            <a:pPr marL="428625" fontAlgn="auto">
              <a:spcAft>
                <a:spcPts val="0"/>
              </a:spcAft>
              <a:buFont typeface="+mj-lt"/>
              <a:buAutoNum type="arabicPeriod"/>
              <a:defRPr/>
            </a:pPr>
            <a:r>
              <a:rPr lang="es-MX" altLang="es-MX" sz="1800"/>
              <a:t>Dificultades para comprender las instrucciones proporcionadas por el organizador.</a:t>
            </a:r>
          </a:p>
          <a:p>
            <a:pPr marL="428625" fontAlgn="auto">
              <a:spcAft>
                <a:spcPts val="0"/>
              </a:spcAft>
              <a:buFont typeface="+mj-lt"/>
              <a:buAutoNum type="arabicPeriod"/>
              <a:defRPr/>
            </a:pPr>
            <a:r>
              <a:rPr lang="es-MX" altLang="es-MX" sz="1800"/>
              <a:t>Instrucciones o actividades poco claras o difíciles de entender.</a:t>
            </a:r>
          </a:p>
          <a:p>
            <a:pPr marL="428625" fontAlgn="auto">
              <a:spcAft>
                <a:spcPts val="0"/>
              </a:spcAft>
              <a:buFont typeface="+mj-lt"/>
              <a:buAutoNum type="arabicPeriod"/>
              <a:defRPr/>
            </a:pPr>
            <a:r>
              <a:rPr lang="es-MX" altLang="es-MX" sz="1800"/>
              <a:t>Distracciones o ruido externo que impiden escuchar a los compañeros.</a:t>
            </a:r>
            <a:endParaRPr lang="es-VE" sz="1800"/>
          </a:p>
        </p:txBody>
      </p:sp>
      <p:sp>
        <p:nvSpPr>
          <p:cNvPr id="18" name="1 Título">
            <a:extLst>
              <a:ext uri="{FF2B5EF4-FFF2-40B4-BE49-F238E27FC236}">
                <a16:creationId xmlns:a16="http://schemas.microsoft.com/office/drawing/2014/main" id="{3B5B6106-9157-E1D1-288A-87868BF20821}"/>
              </a:ext>
            </a:extLst>
          </p:cNvPr>
          <p:cNvSpPr txBox="1">
            <a:spLocks/>
          </p:cNvSpPr>
          <p:nvPr/>
        </p:nvSpPr>
        <p:spPr>
          <a:xfrm>
            <a:off x="685800" y="1214438"/>
            <a:ext cx="7772400" cy="357187"/>
          </a:xfrm>
          <a:prstGeom prst="rect">
            <a:avLst/>
          </a:prstGeom>
        </p:spPr>
        <p:txBody>
          <a:bodyPr anchor="ctr">
            <a:normAutofit fontScale="92500" lnSpcReduction="10000"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s-VE" sz="2000" b="1">
                <a:latin typeface="+mj-lt"/>
                <a:ea typeface="+mj-ea"/>
                <a:cs typeface="+mj-cs"/>
              </a:rPr>
              <a:t>[Integración Escolar]</a:t>
            </a:r>
          </a:p>
        </p:txBody>
      </p:sp>
    </p:spTree>
    <p:extLst>
      <p:ext uri="{BB962C8B-B14F-4D97-AF65-F5344CB8AC3E}">
        <p14:creationId xmlns:p14="http://schemas.microsoft.com/office/powerpoint/2010/main" val="4017414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DCE9B6-4261-D1E6-F9B7-87A14D73E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2 Marcador de contenido">
            <a:extLst>
              <a:ext uri="{FF2B5EF4-FFF2-40B4-BE49-F238E27FC236}">
                <a16:creationId xmlns:a16="http://schemas.microsoft.com/office/drawing/2014/main" id="{8DA9E444-B112-DF9C-65A6-6DB19F1528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3528" y="1571624"/>
            <a:ext cx="8606160" cy="5025727"/>
          </a:xfrm>
          <a:ln w="31750">
            <a:solidFill>
              <a:schemeClr val="accent1"/>
            </a:solidFill>
          </a:ln>
        </p:spPr>
        <p:txBody>
          <a:bodyPr rtlCol="0">
            <a:normAutofit/>
          </a:bodyPr>
          <a:lstStyle/>
          <a:p>
            <a:pPr marL="85725" indent="0" algn="ctr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s-VE" sz="1800" b="1"/>
              <a:t>Interesados Clave</a:t>
            </a:r>
          </a:p>
          <a:p>
            <a:pPr marL="361950" indent="-276225" fontAlgn="auto">
              <a:spcAft>
                <a:spcPts val="0"/>
              </a:spcAft>
              <a:defRPr/>
            </a:pPr>
            <a:r>
              <a:rPr lang="es-VE" sz="1800"/>
              <a:t>Ing. </a:t>
            </a:r>
            <a:r>
              <a:rPr lang="es-VE" sz="1800" err="1"/>
              <a:t>Hazem</a:t>
            </a:r>
            <a:r>
              <a:rPr lang="es-VE" sz="1800"/>
              <a:t> Álvarez Rodríguez , Docente a cargo de la materia.</a:t>
            </a:r>
          </a:p>
          <a:p>
            <a:pPr marL="361950" indent="-276225" fontAlgn="auto">
              <a:spcAft>
                <a:spcPts val="0"/>
              </a:spcAft>
              <a:defRPr/>
            </a:pPr>
            <a:r>
              <a:rPr lang="es-VE" sz="1800"/>
              <a:t>Estudiantes de primer semestre , Participantes.</a:t>
            </a:r>
          </a:p>
          <a:p>
            <a:pPr marL="361950" indent="-276225" fontAlgn="auto">
              <a:spcAft>
                <a:spcPts val="0"/>
              </a:spcAft>
              <a:defRPr/>
            </a:pPr>
            <a:r>
              <a:rPr lang="es-VE" sz="1800"/>
              <a:t>[Nombre], [Cargo].</a:t>
            </a:r>
          </a:p>
        </p:txBody>
      </p:sp>
      <p:sp>
        <p:nvSpPr>
          <p:cNvPr id="18" name="1 Título">
            <a:extLst>
              <a:ext uri="{FF2B5EF4-FFF2-40B4-BE49-F238E27FC236}">
                <a16:creationId xmlns:a16="http://schemas.microsoft.com/office/drawing/2014/main" id="{FFCE1FAF-ECC6-8E91-0FDB-082D1DA0ED34}"/>
              </a:ext>
            </a:extLst>
          </p:cNvPr>
          <p:cNvSpPr txBox="1">
            <a:spLocks/>
          </p:cNvSpPr>
          <p:nvPr/>
        </p:nvSpPr>
        <p:spPr>
          <a:xfrm>
            <a:off x="685800" y="1214438"/>
            <a:ext cx="7772400" cy="357187"/>
          </a:xfrm>
          <a:prstGeom prst="rect">
            <a:avLst/>
          </a:prstGeom>
        </p:spPr>
        <p:txBody>
          <a:bodyPr anchor="ctr">
            <a:normAutofit fontScale="92500" lnSpcReduction="10000"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s-VE" sz="2000" b="1">
                <a:latin typeface="+mj-lt"/>
                <a:ea typeface="+mj-ea"/>
                <a:cs typeface="+mj-cs"/>
              </a:rPr>
              <a:t>[Integración Escolar]</a:t>
            </a:r>
          </a:p>
        </p:txBody>
      </p:sp>
    </p:spTree>
    <p:extLst>
      <p:ext uri="{BB962C8B-B14F-4D97-AF65-F5344CB8AC3E}">
        <p14:creationId xmlns:p14="http://schemas.microsoft.com/office/powerpoint/2010/main" val="2439955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5B41AC-0126-FD6B-7B64-ED3D8885B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2 Marcador de contenido">
            <a:extLst>
              <a:ext uri="{FF2B5EF4-FFF2-40B4-BE49-F238E27FC236}">
                <a16:creationId xmlns:a16="http://schemas.microsoft.com/office/drawing/2014/main" id="{A7318C2F-C88A-813C-4CFD-1794736EA3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3528" y="1700808"/>
            <a:ext cx="8606160" cy="4871442"/>
          </a:xfrm>
          <a:ln w="31750">
            <a:solidFill>
              <a:schemeClr val="accent1"/>
            </a:solidFill>
          </a:ln>
        </p:spPr>
        <p:txBody>
          <a:bodyPr rtlCol="0">
            <a:noAutofit/>
          </a:bodyPr>
          <a:lstStyle/>
          <a:p>
            <a:pPr marL="85725" indent="0" algn="ctr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s-VE" sz="1800" b="1"/>
              <a:t>Lista de Hitos</a:t>
            </a:r>
          </a:p>
          <a:p>
            <a:r>
              <a:rPr lang="es-MX" sz="1800" b="1"/>
              <a:t>10/08/2025:</a:t>
            </a:r>
            <a:r>
              <a:rPr lang="es-MX" sz="1800"/>
              <a:t> Inicio del programa de integración.</a:t>
            </a:r>
          </a:p>
          <a:p>
            <a:r>
              <a:rPr lang="es-MX" sz="1800" b="1"/>
              <a:t>15/09/2025:</a:t>
            </a:r>
            <a:r>
              <a:rPr lang="es-MX" sz="1800"/>
              <a:t> Realización de dinámicas de presentación y entrevistas.</a:t>
            </a:r>
          </a:p>
          <a:p>
            <a:r>
              <a:rPr lang="es-MX" sz="1800" b="1"/>
              <a:t>30/09/2025:</a:t>
            </a:r>
            <a:r>
              <a:rPr lang="es-MX" sz="1800"/>
              <a:t> Juego “Adivina Quién” y evaluación intermedia.</a:t>
            </a:r>
          </a:p>
          <a:p>
            <a:r>
              <a:rPr lang="es-MX" sz="1800" b="1"/>
              <a:t>15/10/2025:</a:t>
            </a:r>
            <a:r>
              <a:rPr lang="es-MX" sz="1800"/>
              <a:t> Presentación de resultados y cierre de actividades.</a:t>
            </a:r>
          </a:p>
          <a:p>
            <a:pPr marL="85725" indent="0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s-VE" sz="1800"/>
          </a:p>
        </p:txBody>
      </p:sp>
      <p:sp>
        <p:nvSpPr>
          <p:cNvPr id="18" name="1 Título">
            <a:extLst>
              <a:ext uri="{FF2B5EF4-FFF2-40B4-BE49-F238E27FC236}">
                <a16:creationId xmlns:a16="http://schemas.microsoft.com/office/drawing/2014/main" id="{68A30705-5782-F901-29CC-8B08D1862861}"/>
              </a:ext>
            </a:extLst>
          </p:cNvPr>
          <p:cNvSpPr txBox="1">
            <a:spLocks/>
          </p:cNvSpPr>
          <p:nvPr/>
        </p:nvSpPr>
        <p:spPr>
          <a:xfrm>
            <a:off x="685800" y="1214438"/>
            <a:ext cx="7772400" cy="357187"/>
          </a:xfrm>
          <a:prstGeom prst="rect">
            <a:avLst/>
          </a:prstGeom>
        </p:spPr>
        <p:txBody>
          <a:bodyPr anchor="ctr">
            <a:normAutofit fontScale="92500" lnSpcReduction="10000"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s-VE" sz="2000" b="1">
                <a:latin typeface="+mj-lt"/>
                <a:ea typeface="+mj-ea"/>
                <a:cs typeface="+mj-cs"/>
              </a:rPr>
              <a:t>[Integración Escolar]</a:t>
            </a:r>
          </a:p>
        </p:txBody>
      </p:sp>
    </p:spTree>
    <p:extLst>
      <p:ext uri="{BB962C8B-B14F-4D97-AF65-F5344CB8AC3E}">
        <p14:creationId xmlns:p14="http://schemas.microsoft.com/office/powerpoint/2010/main" val="14973400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1CC4AC-ADB0-39A2-2624-5BD3108CD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2 Marcador de contenido">
            <a:extLst>
              <a:ext uri="{FF2B5EF4-FFF2-40B4-BE49-F238E27FC236}">
                <a16:creationId xmlns:a16="http://schemas.microsoft.com/office/drawing/2014/main" id="{59BBED69-16BD-39FA-EFC9-EDA794752A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42888" y="1636713"/>
            <a:ext cx="4257675" cy="2000250"/>
          </a:xfrm>
          <a:ln w="31750"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/>
          <a:p>
            <a:pPr marL="85725" indent="0" algn="ctr">
              <a:buFont typeface="Arial" panose="020B0604020202020204" pitchFamily="34" charset="0"/>
              <a:buNone/>
            </a:pPr>
            <a:r>
              <a:rPr lang="es-VE" altLang="en-US" sz="1800" b="1"/>
              <a:t>Justificación y Descripción del Proyecto</a:t>
            </a:r>
            <a:endParaRPr lang="es-VE" altLang="en-US" sz="1800"/>
          </a:p>
          <a:p>
            <a:pPr marL="85725" indent="0">
              <a:buFont typeface="Arial" panose="020B0604020202020204" pitchFamily="34" charset="0"/>
              <a:buNone/>
            </a:pPr>
            <a:r>
              <a:rPr lang="es-VE" altLang="en-US" sz="1800"/>
              <a:t>[Justificación del proyecto desde el punto de vista de negocio y Descripción del Proyecto].</a:t>
            </a:r>
          </a:p>
        </p:txBody>
      </p:sp>
      <p:sp>
        <p:nvSpPr>
          <p:cNvPr id="7171" name="2 Marcador de contenido">
            <a:extLst>
              <a:ext uri="{FF2B5EF4-FFF2-40B4-BE49-F238E27FC236}">
                <a16:creationId xmlns:a16="http://schemas.microsoft.com/office/drawing/2014/main" id="{6EEF7BAC-A1A2-5734-32AD-CD540B8385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14313" y="3779838"/>
            <a:ext cx="4286250" cy="2792412"/>
          </a:xfrm>
          <a:ln w="31750"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/>
          <a:p>
            <a:pPr marL="85725" indent="0" algn="ctr">
              <a:buFont typeface="Arial" panose="020B0604020202020204" pitchFamily="34" charset="0"/>
              <a:buNone/>
            </a:pPr>
            <a:r>
              <a:rPr lang="es-VE" altLang="en-US" sz="1800" b="1"/>
              <a:t>Objetivos</a:t>
            </a:r>
          </a:p>
          <a:p>
            <a:pPr marL="85725" indent="0">
              <a:buFont typeface="Arial" panose="020B0604020202020204" pitchFamily="34" charset="0"/>
              <a:buNone/>
            </a:pPr>
            <a:r>
              <a:rPr lang="es-VE" altLang="en-US" sz="1800" b="1"/>
              <a:t>Alcance: </a:t>
            </a:r>
            <a:r>
              <a:rPr lang="es-VE" altLang="en-US" sz="1800"/>
              <a:t>[Objetivos de alcance y Requerimientos]</a:t>
            </a:r>
            <a:endParaRPr lang="es-VE" altLang="en-US" sz="1800" b="1"/>
          </a:p>
          <a:p>
            <a:pPr marL="85725" indent="0">
              <a:buFont typeface="Arial" panose="020B0604020202020204" pitchFamily="34" charset="0"/>
              <a:buNone/>
            </a:pPr>
            <a:r>
              <a:rPr lang="es-VE" altLang="en-US" sz="1800" b="1"/>
              <a:t>Tiempo: </a:t>
            </a:r>
            <a:r>
              <a:rPr lang="es-VE" altLang="en-US" sz="1800"/>
              <a:t>[Fecha demandada para su finalización]</a:t>
            </a:r>
          </a:p>
          <a:p>
            <a:pPr marL="85725" indent="0">
              <a:buFont typeface="Arial" panose="020B0604020202020204" pitchFamily="34" charset="0"/>
              <a:buNone/>
            </a:pPr>
            <a:r>
              <a:rPr lang="es-VE" altLang="en-US" sz="1800" b="1"/>
              <a:t>Costo: </a:t>
            </a:r>
            <a:r>
              <a:rPr lang="es-VE" altLang="en-US" sz="1800"/>
              <a:t>[Restricción / Tope de Presupuesto.</a:t>
            </a:r>
          </a:p>
          <a:p>
            <a:pPr marL="85725" indent="0">
              <a:buFont typeface="Arial" panose="020B0604020202020204" pitchFamily="34" charset="0"/>
              <a:buNone/>
            </a:pPr>
            <a:r>
              <a:rPr lang="es-VE" altLang="en-US" sz="1800" b="1"/>
              <a:t>Calidad: </a:t>
            </a:r>
            <a:r>
              <a:rPr lang="es-VE" altLang="en-US" sz="1800"/>
              <a:t>Especificaciones o Restricciones técnicas de calidad.</a:t>
            </a:r>
            <a:endParaRPr lang="es-VE" altLang="en-US" sz="1800" b="1"/>
          </a:p>
          <a:p>
            <a:pPr marL="85725" indent="0">
              <a:buFont typeface="Arial" panose="020B0604020202020204" pitchFamily="34" charset="0"/>
              <a:buNone/>
            </a:pPr>
            <a:endParaRPr lang="es-VE" altLang="en-US" sz="1800"/>
          </a:p>
        </p:txBody>
      </p:sp>
      <p:sp>
        <p:nvSpPr>
          <p:cNvPr id="14" name="2 Marcador de contenido">
            <a:extLst>
              <a:ext uri="{FF2B5EF4-FFF2-40B4-BE49-F238E27FC236}">
                <a16:creationId xmlns:a16="http://schemas.microsoft.com/office/drawing/2014/main" id="{779874CE-68FF-E2D7-FC70-7CF3BBBEF4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43438" y="4851400"/>
            <a:ext cx="4286250" cy="1720850"/>
          </a:xfrm>
          <a:ln w="31750">
            <a:solidFill>
              <a:schemeClr val="accent1"/>
            </a:solidFill>
          </a:ln>
        </p:spPr>
        <p:txBody>
          <a:bodyPr rtlCol="0">
            <a:noAutofit/>
          </a:bodyPr>
          <a:lstStyle/>
          <a:p>
            <a:pPr marL="85725" indent="0" algn="ctr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s-VE" sz="1800" b="1"/>
              <a:t>Lista de Hitos</a:t>
            </a:r>
          </a:p>
          <a:p>
            <a:pPr marL="276225" indent="-190500" fontAlgn="auto">
              <a:spcAft>
                <a:spcPts val="0"/>
              </a:spcAft>
              <a:defRPr/>
            </a:pPr>
            <a:r>
              <a:rPr lang="es-VE" sz="1800"/>
              <a:t>[</a:t>
            </a:r>
            <a:r>
              <a:rPr lang="es-VE" sz="1800" err="1"/>
              <a:t>dd</a:t>
            </a:r>
            <a:r>
              <a:rPr lang="es-VE" sz="1800"/>
              <a:t>/mm/</a:t>
            </a:r>
            <a:r>
              <a:rPr lang="es-VE" sz="1800" b="1"/>
              <a:t>: </a:t>
            </a:r>
            <a:r>
              <a:rPr lang="es-VE" sz="1800"/>
              <a:t>[Hito 1].</a:t>
            </a:r>
          </a:p>
          <a:p>
            <a:pPr marL="276225" indent="-190500" fontAlgn="auto">
              <a:spcAft>
                <a:spcPts val="0"/>
              </a:spcAft>
              <a:defRPr/>
            </a:pPr>
            <a:r>
              <a:rPr lang="es-VE" sz="1800"/>
              <a:t>[</a:t>
            </a:r>
            <a:r>
              <a:rPr lang="es-VE" sz="1800" err="1"/>
              <a:t>dd</a:t>
            </a:r>
            <a:r>
              <a:rPr lang="es-VE" sz="1800"/>
              <a:t>/mm/</a:t>
            </a:r>
            <a:r>
              <a:rPr lang="es-VE" sz="1800" b="1"/>
              <a:t>: </a:t>
            </a:r>
            <a:r>
              <a:rPr lang="es-VE" sz="1800"/>
              <a:t>[Hito 2].</a:t>
            </a:r>
          </a:p>
          <a:p>
            <a:pPr marL="276225" indent="-190500" fontAlgn="auto">
              <a:spcAft>
                <a:spcPts val="0"/>
              </a:spcAft>
              <a:defRPr/>
            </a:pPr>
            <a:r>
              <a:rPr lang="es-VE" sz="1800"/>
              <a:t>[</a:t>
            </a:r>
            <a:r>
              <a:rPr lang="es-VE" sz="1800" err="1"/>
              <a:t>dd</a:t>
            </a:r>
            <a:r>
              <a:rPr lang="es-VE" sz="1800"/>
              <a:t>/mm/</a:t>
            </a:r>
            <a:r>
              <a:rPr lang="es-VE" sz="1800" b="1"/>
              <a:t>: </a:t>
            </a:r>
            <a:r>
              <a:rPr lang="es-VE" sz="1800"/>
              <a:t>[Hito 3].</a:t>
            </a:r>
          </a:p>
          <a:p>
            <a:pPr marL="276225" indent="-190500" fontAlgn="auto">
              <a:spcAft>
                <a:spcPts val="0"/>
              </a:spcAft>
              <a:defRPr/>
            </a:pPr>
            <a:r>
              <a:rPr lang="es-VE" sz="1800"/>
              <a:t>[</a:t>
            </a:r>
            <a:r>
              <a:rPr lang="es-VE" sz="1800" err="1"/>
              <a:t>dd</a:t>
            </a:r>
            <a:r>
              <a:rPr lang="es-VE" sz="1800"/>
              <a:t>/mm/</a:t>
            </a:r>
            <a:r>
              <a:rPr lang="es-VE" sz="1800" b="1"/>
              <a:t>: </a:t>
            </a:r>
            <a:r>
              <a:rPr lang="es-VE" sz="1800"/>
              <a:t>[Hito 4].</a:t>
            </a:r>
          </a:p>
          <a:p>
            <a:pPr marL="85725" indent="0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s-VE" sz="1800"/>
          </a:p>
        </p:txBody>
      </p:sp>
      <p:sp>
        <p:nvSpPr>
          <p:cNvPr id="15" name="2 Marcador de contenido">
            <a:extLst>
              <a:ext uri="{FF2B5EF4-FFF2-40B4-BE49-F238E27FC236}">
                <a16:creationId xmlns:a16="http://schemas.microsoft.com/office/drawing/2014/main" id="{F9DB3B94-5BB3-8E1E-FBAB-FC393A34EC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43438" y="1636713"/>
            <a:ext cx="4257675" cy="1571625"/>
          </a:xfrm>
          <a:ln w="31750">
            <a:solidFill>
              <a:schemeClr val="accent1"/>
            </a:solidFill>
          </a:ln>
        </p:spPr>
        <p:txBody>
          <a:bodyPr rtlCol="0">
            <a:normAutofit/>
          </a:bodyPr>
          <a:lstStyle/>
          <a:p>
            <a:pPr marL="85725" indent="0" algn="ctr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s-VE" sz="1800" b="1"/>
              <a:t>Riesgos Generales</a:t>
            </a:r>
          </a:p>
          <a:p>
            <a:pPr marL="361950" indent="-276225" fontAlgn="auto">
              <a:spcAft>
                <a:spcPts val="0"/>
              </a:spcAft>
              <a:defRPr/>
            </a:pPr>
            <a:r>
              <a:rPr lang="es-VE" sz="1800"/>
              <a:t>Riesgo #1.</a:t>
            </a:r>
          </a:p>
          <a:p>
            <a:pPr marL="361950" indent="-276225" fontAlgn="auto">
              <a:spcAft>
                <a:spcPts val="0"/>
              </a:spcAft>
              <a:defRPr/>
            </a:pPr>
            <a:r>
              <a:rPr lang="es-VE" sz="1800"/>
              <a:t>Riesgo #2.</a:t>
            </a:r>
          </a:p>
          <a:p>
            <a:pPr marL="361950" indent="-276225" fontAlgn="auto">
              <a:spcAft>
                <a:spcPts val="0"/>
              </a:spcAft>
              <a:defRPr/>
            </a:pPr>
            <a:r>
              <a:rPr lang="es-VE" sz="1800"/>
              <a:t>Riesgo #3.</a:t>
            </a:r>
          </a:p>
        </p:txBody>
      </p:sp>
      <p:sp>
        <p:nvSpPr>
          <p:cNvPr id="17" name="2 Marcador de contenido">
            <a:extLst>
              <a:ext uri="{FF2B5EF4-FFF2-40B4-BE49-F238E27FC236}">
                <a16:creationId xmlns:a16="http://schemas.microsoft.com/office/drawing/2014/main" id="{3A305D6E-7042-EE1C-A85A-5817B479F9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43438" y="3279775"/>
            <a:ext cx="4257675" cy="1428750"/>
          </a:xfrm>
          <a:ln w="31750">
            <a:solidFill>
              <a:schemeClr val="accent1"/>
            </a:solidFill>
          </a:ln>
        </p:spPr>
        <p:txBody>
          <a:bodyPr rtlCol="0">
            <a:normAutofit/>
          </a:bodyPr>
          <a:lstStyle/>
          <a:p>
            <a:pPr marL="85725" indent="0" algn="ctr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s-VE" sz="1800" b="1"/>
              <a:t>Interesados Clave</a:t>
            </a:r>
          </a:p>
          <a:p>
            <a:pPr marL="361950" indent="-276225" fontAlgn="auto">
              <a:spcAft>
                <a:spcPts val="0"/>
              </a:spcAft>
              <a:defRPr/>
            </a:pPr>
            <a:r>
              <a:rPr lang="es-VE" sz="1800"/>
              <a:t>[Nombre], [Cargo].</a:t>
            </a:r>
          </a:p>
          <a:p>
            <a:pPr marL="361950" indent="-276225" fontAlgn="auto">
              <a:spcAft>
                <a:spcPts val="0"/>
              </a:spcAft>
              <a:defRPr/>
            </a:pPr>
            <a:r>
              <a:rPr lang="es-VE" sz="1800"/>
              <a:t>[Nombre], [Cargo].</a:t>
            </a:r>
          </a:p>
          <a:p>
            <a:pPr marL="361950" indent="-276225" fontAlgn="auto">
              <a:spcAft>
                <a:spcPts val="0"/>
              </a:spcAft>
              <a:defRPr/>
            </a:pPr>
            <a:r>
              <a:rPr lang="es-VE" sz="1800"/>
              <a:t>[Nombre], [Cargo].</a:t>
            </a:r>
          </a:p>
        </p:txBody>
      </p:sp>
      <p:sp>
        <p:nvSpPr>
          <p:cNvPr id="18" name="1 Título">
            <a:extLst>
              <a:ext uri="{FF2B5EF4-FFF2-40B4-BE49-F238E27FC236}">
                <a16:creationId xmlns:a16="http://schemas.microsoft.com/office/drawing/2014/main" id="{B4E13D6B-E2B2-2116-C3B0-EDEB36DAC10F}"/>
              </a:ext>
            </a:extLst>
          </p:cNvPr>
          <p:cNvSpPr txBox="1">
            <a:spLocks/>
          </p:cNvSpPr>
          <p:nvPr/>
        </p:nvSpPr>
        <p:spPr>
          <a:xfrm>
            <a:off x="685800" y="1214438"/>
            <a:ext cx="7772400" cy="357187"/>
          </a:xfrm>
          <a:prstGeom prst="rect">
            <a:avLst/>
          </a:prstGeom>
        </p:spPr>
        <p:txBody>
          <a:bodyPr anchor="ctr">
            <a:normAutofit fontScale="92500" lnSpcReduction="10000"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s-VE" sz="2000" b="1">
                <a:latin typeface="+mj-lt"/>
                <a:ea typeface="+mj-ea"/>
                <a:cs typeface="+mj-cs"/>
              </a:rPr>
              <a:t>[Integración Escolar]</a:t>
            </a:r>
          </a:p>
        </p:txBody>
      </p:sp>
    </p:spTree>
    <p:extLst>
      <p:ext uri="{BB962C8B-B14F-4D97-AF65-F5344CB8AC3E}">
        <p14:creationId xmlns:p14="http://schemas.microsoft.com/office/powerpoint/2010/main" val="391299629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43299af-12c5-4a94-a2c7-c86c78b36c9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47E59C22AA6E640B3BDD78573C6C896" ma:contentTypeVersion="15" ma:contentTypeDescription="Create a new document." ma:contentTypeScope="" ma:versionID="38c88717cfbb0d8501c1cdd4477aa2f1">
  <xsd:schema xmlns:xsd="http://www.w3.org/2001/XMLSchema" xmlns:xs="http://www.w3.org/2001/XMLSchema" xmlns:p="http://schemas.microsoft.com/office/2006/metadata/properties" xmlns:ns3="4ed9d6d6-5ffe-47a9-86e3-4156f6b81eb7" xmlns:ns4="943299af-12c5-4a94-a2c7-c86c78b36c95" targetNamespace="http://schemas.microsoft.com/office/2006/metadata/properties" ma:root="true" ma:fieldsID="819163700db3c75cca96db026112fee2" ns3:_="" ns4:_="">
    <xsd:import namespace="4ed9d6d6-5ffe-47a9-86e3-4156f6b81eb7"/>
    <xsd:import namespace="943299af-12c5-4a94-a2c7-c86c78b36c95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MediaLengthInSeconds" minOccurs="0"/>
                <xsd:element ref="ns4:_activity" minOccurs="0"/>
                <xsd:element ref="ns4:MediaServiceSearchProperties" minOccurs="0"/>
                <xsd:element ref="ns4:MediaServiceObjectDetectorVersions" minOccurs="0"/>
                <xsd:element ref="ns4:MediaServiceSystemTags" minOccurs="0"/>
                <xsd:element ref="ns4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d9d6d6-5ffe-47a9-86e3-4156f6b81eb7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3299af-12c5-4a94-a2c7-c86c78b36c9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8" nillable="true" ma:displayName="_activity" ma:hidden="true" ma:internalName="_activity">
      <xsd:simpleType>
        <xsd:restriction base="dms:Note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DateTaken" ma:index="22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D8F8F11-C4A2-4022-B356-5A1F28EB1B9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D1D1B14-184B-467A-9B46-102C2006E9AC}">
  <ds:schemaRefs>
    <ds:schemaRef ds:uri="4ed9d6d6-5ffe-47a9-86e3-4156f6b81eb7"/>
    <ds:schemaRef ds:uri="943299af-12c5-4a94-a2c7-c86c78b36c9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0E831742-9380-4F49-9684-084E91C8EC70}">
  <ds:schemaRefs>
    <ds:schemaRef ds:uri="4ed9d6d6-5ffe-47a9-86e3-4156f6b81eb7"/>
    <ds:schemaRef ds:uri="943299af-12c5-4a94-a2c7-c86c78b36c9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798</Words>
  <Application>Microsoft Office PowerPoint</Application>
  <PresentationFormat>Presentación en pantalla (4:3)</PresentationFormat>
  <Paragraphs>106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4" baseType="lpstr">
      <vt:lpstr>Arial</vt:lpstr>
      <vt:lpstr>Calibri</vt:lpstr>
      <vt:lpstr>Tema de Office</vt:lpstr>
      <vt:lpstr>Acta de Proyecto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admin</dc:creator>
  <cp:lastModifiedBy>DANIELA JOSELIN FALCON SIERRA</cp:lastModifiedBy>
  <cp:revision>2</cp:revision>
  <dcterms:created xsi:type="dcterms:W3CDTF">2013-07-13T16:52:20Z</dcterms:created>
  <dcterms:modified xsi:type="dcterms:W3CDTF">2025-11-28T00:04:15Z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0x010100D47E59C22AA6E640B3BDD78573C6C896</vt:lpwstr>
  </property>
</Properties>
</file>